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339" r:id="rId103"/>
    <p:sldId id="340" r:id="rId104"/>
    <p:sldId id="341" r:id="rId105"/>
    <p:sldId id="342" r:id="rId106"/>
    <p:sldId id="343" r:id="rId107"/>
    <p:sldId id="344" r:id="rId108"/>
    <p:sldId id="345" r:id="rId109"/>
    <p:sldId id="346" r:id="rId110"/>
    <p:sldId id="347" r:id="rId111"/>
    <p:sldId id="348" r:id="rId112"/>
    <p:sldId id="349" r:id="rId113"/>
    <p:sldId id="350" r:id="rId114"/>
    <p:sldId id="351" r:id="rId115"/>
    <p:sldId id="352" r:id="rId116"/>
    <p:sldId id="353" r:id="rId117"/>
    <p:sldId id="354" r:id="rId118"/>
    <p:sldId id="355" r:id="rId119"/>
    <p:sldId id="356" r:id="rId120"/>
    <p:sldId id="357" r:id="rId121"/>
    <p:sldId id="358" r:id="rId122"/>
    <p:sldId id="359" r:id="rId123"/>
    <p:sldId id="360" r:id="rId124"/>
    <p:sldId id="361" r:id="rId125"/>
    <p:sldId id="362" r:id="rId126"/>
    <p:sldId id="363" r:id="rId127"/>
    <p:sldId id="364" r:id="rId128"/>
    <p:sldId id="365" r:id="rId129"/>
  </p:sldIdLst>
  <p:sldSz cy="5143500" cx="9144000"/>
  <p:notesSz cx="6858000" cy="9144000"/>
  <p:embeddedFontLst>
    <p:embeddedFont>
      <p:font typeface="Poppins"/>
      <p:regular r:id="rId89"/>
      <p:bold r:id="rId90"/>
      <p:italic r:id="rId91"/>
      <p:boldItalic r:id="rId92"/>
    </p:embeddedFont>
    <p:embeddedFont>
      <p:font typeface="DM Sans ExtraBold"/>
      <p:bold r:id="rId93"/>
      <p:boldItalic r:id="rId94"/>
    </p:embeddedFont>
    <p:embeddedFont>
      <p:font typeface="DM Sans Light"/>
      <p:regular r:id="rId95"/>
      <p:bold r:id="rId96"/>
      <p:italic r:id="rId97"/>
      <p:boldItalic r:id="rId98"/>
    </p:embeddedFont>
    <p:embeddedFont>
      <p:font typeface="DM Sans"/>
      <p:regular r:id="rId99"/>
      <p:bold r:id="rId100"/>
      <p:italic r:id="rId101"/>
      <p:boldItalic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AE41F2-1DCC-49B2-B1C6-65B10B8CEDD2}">
  <a:tblStyle styleId="{9FAE41F2-1DCC-49B2-B1C6-65B10B8CED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9" Type="http://schemas.openxmlformats.org/officeDocument/2006/relationships/font" Target="fonts/Poppins-regular.fntdata"/><Relationship Id="rId90" Type="http://schemas.openxmlformats.org/officeDocument/2006/relationships/font" Target="fonts/Poppins-bold.fntdata"/><Relationship Id="rId91" Type="http://schemas.openxmlformats.org/officeDocument/2006/relationships/font" Target="fonts/Poppins-italic.fntdata"/><Relationship Id="rId92" Type="http://schemas.openxmlformats.org/officeDocument/2006/relationships/font" Target="fonts/Poppins-boldItalic.fntdata"/><Relationship Id="rId93" Type="http://schemas.openxmlformats.org/officeDocument/2006/relationships/font" Target="fonts/DMSansExtraBold-bold.fntdata"/><Relationship Id="rId94" Type="http://schemas.openxmlformats.org/officeDocument/2006/relationships/font" Target="fonts/DMSansExtraBold-boldItalic.fntdata"/><Relationship Id="rId95" Type="http://schemas.openxmlformats.org/officeDocument/2006/relationships/font" Target="fonts/DMSansLight-regular.fntdata"/><Relationship Id="rId96" Type="http://schemas.openxmlformats.org/officeDocument/2006/relationships/font" Target="fonts/DMSansLight-bold.fntdata"/><Relationship Id="rId97" Type="http://schemas.openxmlformats.org/officeDocument/2006/relationships/font" Target="fonts/DMSansLight-italic.fntdata"/><Relationship Id="rId98" Type="http://schemas.openxmlformats.org/officeDocument/2006/relationships/font" Target="fonts/DMSansLight-boldItalic.fntdata"/><Relationship Id="rId99" Type="http://schemas.openxmlformats.org/officeDocument/2006/relationships/font" Target="fonts/DMSans-regular.fntdata"/><Relationship Id="rId100" Type="http://schemas.openxmlformats.org/officeDocument/2006/relationships/font" Target="fonts/DMSans-bold.fntdata"/><Relationship Id="rId101" Type="http://schemas.openxmlformats.org/officeDocument/2006/relationships/font" Target="fonts/DMSans-italic.fntdata"/><Relationship Id="rId102" Type="http://schemas.openxmlformats.org/officeDocument/2006/relationships/font" Target="fonts/DMSans-boldItalic.fntdata"/><Relationship Id="rId103" Type="http://schemas.openxmlformats.org/officeDocument/2006/relationships/slide" Target="slides/slide84.xml"/><Relationship Id="rId104" Type="http://schemas.openxmlformats.org/officeDocument/2006/relationships/slide" Target="slides/slide85.xml"/><Relationship Id="rId105" Type="http://schemas.openxmlformats.org/officeDocument/2006/relationships/slide" Target="slides/slide86.xml"/><Relationship Id="rId106" Type="http://schemas.openxmlformats.org/officeDocument/2006/relationships/slide" Target="slides/slide87.xml"/><Relationship Id="rId107" Type="http://schemas.openxmlformats.org/officeDocument/2006/relationships/slide" Target="slides/slide88.xml"/><Relationship Id="rId108" Type="http://schemas.openxmlformats.org/officeDocument/2006/relationships/slide" Target="slides/slide89.xml"/><Relationship Id="rId109" Type="http://schemas.openxmlformats.org/officeDocument/2006/relationships/slide" Target="slides/slide90.xml"/><Relationship Id="rId110" Type="http://schemas.openxmlformats.org/officeDocument/2006/relationships/slide" Target="slides/slide91.xml"/><Relationship Id="rId111" Type="http://schemas.openxmlformats.org/officeDocument/2006/relationships/slide" Target="slides/slide92.xml"/><Relationship Id="rId112" Type="http://schemas.openxmlformats.org/officeDocument/2006/relationships/slide" Target="slides/slide93.xml"/><Relationship Id="rId113" Type="http://schemas.openxmlformats.org/officeDocument/2006/relationships/slide" Target="slides/slide94.xml"/><Relationship Id="rId114" Type="http://schemas.openxmlformats.org/officeDocument/2006/relationships/slide" Target="slides/slide95.xml"/><Relationship Id="rId115" Type="http://schemas.openxmlformats.org/officeDocument/2006/relationships/slide" Target="slides/slide96.xml"/><Relationship Id="rId116" Type="http://schemas.openxmlformats.org/officeDocument/2006/relationships/slide" Target="slides/slide97.xml"/><Relationship Id="rId117" Type="http://schemas.openxmlformats.org/officeDocument/2006/relationships/slide" Target="slides/slide98.xml"/><Relationship Id="rId118" Type="http://schemas.openxmlformats.org/officeDocument/2006/relationships/slide" Target="slides/slide99.xml"/><Relationship Id="rId119" Type="http://schemas.openxmlformats.org/officeDocument/2006/relationships/slide" Target="slides/slide100.xml"/><Relationship Id="rId120" Type="http://schemas.openxmlformats.org/officeDocument/2006/relationships/slide" Target="slides/slide101.xml"/><Relationship Id="rId121" Type="http://schemas.openxmlformats.org/officeDocument/2006/relationships/slide" Target="slides/slide102.xml"/><Relationship Id="rId122" Type="http://schemas.openxmlformats.org/officeDocument/2006/relationships/slide" Target="slides/slide103.xml"/><Relationship Id="rId123" Type="http://schemas.openxmlformats.org/officeDocument/2006/relationships/slide" Target="slides/slide104.xml"/><Relationship Id="rId124" Type="http://schemas.openxmlformats.org/officeDocument/2006/relationships/slide" Target="slides/slide105.xml"/><Relationship Id="rId125" Type="http://schemas.openxmlformats.org/officeDocument/2006/relationships/slide" Target="slides/slide106.xml"/><Relationship Id="rId126" Type="http://schemas.openxmlformats.org/officeDocument/2006/relationships/slide" Target="slides/slide107.xml"/><Relationship Id="rId127" Type="http://schemas.openxmlformats.org/officeDocument/2006/relationships/slide" Target="slides/slide108.xml"/><Relationship Id="rId128" Type="http://schemas.openxmlformats.org/officeDocument/2006/relationships/slide" Target="slides/slide109.xml"/><Relationship Id="rId129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gi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gi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457200" y="1463606"/>
            <a:ext cx="8229600" cy="1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DM Sans ExtraBold"/>
                <a:ea typeface="DM Sans ExtraBold"/>
                <a:cs typeface="DM Sans ExtraBold"/>
                <a:sym typeface="DM Sans ExtraBold"/>
              </a:rPr>
              <a:t>Insert your title here.</a:t>
            </a:r>
            <a:endParaRPr sz="4800"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DM Sans ExtraBold"/>
                <a:ea typeface="DM Sans ExtraBold"/>
                <a:cs typeface="DM Sans ExtraBold"/>
                <a:sym typeface="DM Sans ExtraBold"/>
              </a:rPr>
              <a:t>Use up to 2 lines.</a:t>
            </a:r>
            <a:endParaRPr sz="4800"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2571750" y="2991844"/>
            <a:ext cx="40005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M Sans"/>
                <a:ea typeface="DM Sans"/>
                <a:cs typeface="DM Sans"/>
                <a:sym typeface="DM Sans"/>
              </a:rPr>
              <a:t>If you have anything else to say, insert here, using up to 2 lines.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pos="2952">
          <p15:clr>
            <a:srgbClr val="E46962"/>
          </p15:clr>
        </p15:guide>
        <p15:guide id="4" pos="2808">
          <p15:clr>
            <a:srgbClr val="E46962"/>
          </p15:clr>
        </p15:guide>
        <p15:guide id="5" pos="1620">
          <p15:clr>
            <a:srgbClr val="E46962"/>
          </p15:clr>
        </p15:guide>
        <p15:guide id="6" pos="1476">
          <p15:clr>
            <a:srgbClr val="E46962"/>
          </p15:clr>
        </p15:guide>
        <p15:guide id="7" pos="4284">
          <p15:clr>
            <a:srgbClr val="E46962"/>
          </p15:clr>
        </p15:guide>
        <p15:guide id="8" pos="4140">
          <p15:clr>
            <a:srgbClr val="E46962"/>
          </p15:clr>
        </p15:guide>
        <p15:guide id="9" orient="horz" pos="288">
          <p15:clr>
            <a:srgbClr val="E46962"/>
          </p15:clr>
        </p15:guide>
        <p15:guide id="10" orient="horz" pos="2952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990">
          <p15:clr>
            <a:srgbClr val="E46962"/>
          </p15:clr>
        </p15:guide>
        <p15:guide id="14" orient="horz" pos="847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S - BLANK TEMPLAT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COVER">
  <p:cSld name="TITLE_1_1">
    <p:bg>
      <p:bgPr>
        <a:solidFill>
          <a:srgbClr val="FA5A5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4"/>
          <p:cNvGrpSpPr/>
          <p:nvPr/>
        </p:nvGrpSpPr>
        <p:grpSpPr>
          <a:xfrm>
            <a:off x="457209" y="457171"/>
            <a:ext cx="965835" cy="311098"/>
            <a:chOff x="238125" y="1706125"/>
            <a:chExt cx="7143750" cy="2302725"/>
          </a:xfrm>
        </p:grpSpPr>
        <p:sp>
          <p:nvSpPr>
            <p:cNvPr id="16" name="Google Shape;16;p4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4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COVER GIF">
  <p:cSld name="TITLE_1_1_2">
    <p:bg>
      <p:bgPr>
        <a:solidFill>
          <a:srgbClr val="FA5A5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288" y="363513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RED COVER ">
  <p:cSld name="TITLE_1_1_1">
    <p:bg>
      <p:bgPr>
        <a:solidFill>
          <a:srgbClr val="690037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"/>
          <p:cNvGrpSpPr/>
          <p:nvPr/>
        </p:nvGrpSpPr>
        <p:grpSpPr>
          <a:xfrm>
            <a:off x="457209" y="457171"/>
            <a:ext cx="965835" cy="311098"/>
            <a:chOff x="238125" y="1706125"/>
            <a:chExt cx="7143750" cy="2302725"/>
          </a:xfrm>
        </p:grpSpPr>
        <p:sp>
          <p:nvSpPr>
            <p:cNvPr id="24" name="Google Shape;24;p6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6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6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6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RED COVER GIF">
  <p:cSld name="TITLE_1_1_1_2">
    <p:bg>
      <p:bgPr>
        <a:solidFill>
          <a:srgbClr val="690037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288" y="363513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 COVER">
  <p:cSld name="TITLE_1_1_1_1">
    <p:bg>
      <p:bgPr>
        <a:solidFill>
          <a:srgbClr val="B4DC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8"/>
          <p:cNvGrpSpPr/>
          <p:nvPr/>
        </p:nvGrpSpPr>
        <p:grpSpPr>
          <a:xfrm>
            <a:off x="457209" y="457171"/>
            <a:ext cx="965835" cy="311098"/>
            <a:chOff x="238125" y="1706125"/>
            <a:chExt cx="7143750" cy="2302725"/>
          </a:xfrm>
        </p:grpSpPr>
        <p:sp>
          <p:nvSpPr>
            <p:cNvPr id="32" name="Google Shape;32;p8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8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8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8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 COVER GIF">
  <p:cSld name="TITLE_1_1_1_1_2">
    <p:bg>
      <p:bgPr>
        <a:solidFill>
          <a:srgbClr val="B4DCFA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0288" y="363513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COVER">
  <p:cSld name="TITLE_1_1_1_1_1">
    <p:bg>
      <p:bgPr>
        <a:solidFill>
          <a:srgbClr val="00005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10"/>
          <p:cNvGrpSpPr/>
          <p:nvPr/>
        </p:nvGrpSpPr>
        <p:grpSpPr>
          <a:xfrm>
            <a:off x="457209" y="457171"/>
            <a:ext cx="965835" cy="311098"/>
            <a:chOff x="238125" y="1706125"/>
            <a:chExt cx="7143750" cy="2302725"/>
          </a:xfrm>
        </p:grpSpPr>
        <p:sp>
          <p:nvSpPr>
            <p:cNvPr id="40" name="Google Shape;40;p10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10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10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10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COVER GIF">
  <p:cSld name="TITLE_1_1_1_1_1_2">
    <p:bg>
      <p:bgPr>
        <a:solidFill>
          <a:srgbClr val="00005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288" y="363513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COVER">
  <p:cSld name="TITLE_1_1_1_1_1_1">
    <p:bg>
      <p:bgPr>
        <a:solidFill>
          <a:srgbClr val="FAB9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12"/>
          <p:cNvGrpSpPr/>
          <p:nvPr/>
        </p:nvGrpSpPr>
        <p:grpSpPr>
          <a:xfrm>
            <a:off x="457209" y="457171"/>
            <a:ext cx="965835" cy="311098"/>
            <a:chOff x="238125" y="1706125"/>
            <a:chExt cx="7143750" cy="2302725"/>
          </a:xfrm>
        </p:grpSpPr>
        <p:sp>
          <p:nvSpPr>
            <p:cNvPr id="48" name="Google Shape;48;p12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69003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12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69003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2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69003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2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69003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COVER GIF">
  <p:cSld name="TITLE_1_1_1_1_1_1_2">
    <p:bg>
      <p:bgPr>
        <a:solidFill>
          <a:srgbClr val="FAB9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0288" y="363513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">
  <p:cSld name="TITLE_1_1_1_1_1_1_1">
    <p:bg>
      <p:bgPr>
        <a:solidFill>
          <a:srgbClr val="FA5A5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457209" y="2800346"/>
            <a:ext cx="965835" cy="311098"/>
            <a:chOff x="238125" y="1706125"/>
            <a:chExt cx="7143750" cy="2302725"/>
          </a:xfrm>
        </p:grpSpPr>
        <p:sp>
          <p:nvSpPr>
            <p:cNvPr id="56" name="Google Shape;56;p14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14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GIF">
  <p:cSld name="TITLE_1_1_1_1_1_1_1_3">
    <p:bg>
      <p:bgPr>
        <a:solidFill>
          <a:srgbClr val="FA5A5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288" y="2707819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">
  <p:cSld name="TITLE_1_1_1_1_1_1_1_2">
    <p:bg>
      <p:bgPr>
        <a:solidFill>
          <a:srgbClr val="690039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6"/>
          <p:cNvGrpSpPr/>
          <p:nvPr/>
        </p:nvGrpSpPr>
        <p:grpSpPr>
          <a:xfrm>
            <a:off x="457209" y="2800346"/>
            <a:ext cx="965835" cy="311098"/>
            <a:chOff x="238125" y="1706125"/>
            <a:chExt cx="7143750" cy="2302725"/>
          </a:xfrm>
        </p:grpSpPr>
        <p:sp>
          <p:nvSpPr>
            <p:cNvPr id="66" name="Google Shape;66;p16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6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6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16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GIF">
  <p:cSld name="TITLE_1_1_1_1_1_1_1_2_2">
    <p:bg>
      <p:bgPr>
        <a:solidFill>
          <a:srgbClr val="690039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3" name="Google Shape;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288" y="2707819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 ">
  <p:cSld name="TITLE_1_1_1_1_1_1_1_2_1">
    <p:bg>
      <p:bgPr>
        <a:solidFill>
          <a:srgbClr val="B4DCF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8"/>
          <p:cNvGrpSpPr/>
          <p:nvPr/>
        </p:nvGrpSpPr>
        <p:grpSpPr>
          <a:xfrm>
            <a:off x="457209" y="2800346"/>
            <a:ext cx="965835" cy="311098"/>
            <a:chOff x="238125" y="1706125"/>
            <a:chExt cx="7143750" cy="2302725"/>
          </a:xfrm>
        </p:grpSpPr>
        <p:sp>
          <p:nvSpPr>
            <p:cNvPr id="76" name="Google Shape;76;p18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8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8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8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8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 GIF">
  <p:cSld name="TITLE_1_1_1_1_1_1_1_2_1_2">
    <p:bg>
      <p:bgPr>
        <a:solidFill>
          <a:srgbClr val="B4DC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3" name="Google Shape;8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0288" y="2707819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 ">
  <p:cSld name="TITLE_1_1_1_1_1_1_1_2_1_1">
    <p:bg>
      <p:bgPr>
        <a:solidFill>
          <a:srgbClr val="00005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0"/>
          <p:cNvGrpSpPr/>
          <p:nvPr/>
        </p:nvGrpSpPr>
        <p:grpSpPr>
          <a:xfrm>
            <a:off x="457209" y="2800346"/>
            <a:ext cx="965835" cy="311098"/>
            <a:chOff x="238125" y="1706125"/>
            <a:chExt cx="7143750" cy="2302725"/>
          </a:xfrm>
        </p:grpSpPr>
        <p:sp>
          <p:nvSpPr>
            <p:cNvPr id="86" name="Google Shape;86;p20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0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0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0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20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GIF">
  <p:cSld name="TITLE_1_1_1_1_1_1_1_2_1_1_2">
    <p:bg>
      <p:bgPr>
        <a:solidFill>
          <a:srgbClr val="00005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3" name="Google Shape;9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288" y="2707819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 ">
  <p:cSld name="TITLE_1_1_1_1_1_1_1_2_1_1_1">
    <p:bg>
      <p:bgPr>
        <a:solidFill>
          <a:srgbClr val="F9B7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2"/>
          <p:cNvGrpSpPr/>
          <p:nvPr/>
        </p:nvGrpSpPr>
        <p:grpSpPr>
          <a:xfrm>
            <a:off x="457209" y="2800346"/>
            <a:ext cx="965835" cy="311098"/>
            <a:chOff x="238125" y="1706125"/>
            <a:chExt cx="7143750" cy="2302725"/>
          </a:xfrm>
        </p:grpSpPr>
        <p:sp>
          <p:nvSpPr>
            <p:cNvPr id="96" name="Google Shape;96;p22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69003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2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69003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2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69003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2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69003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22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FOR HORIZONTAL PHOTOS GIF">
  <p:cSld name="TITLE_1_1_1_1_1_1_1_2_1_1_1_1">
    <p:bg>
      <p:bgPr>
        <a:solidFill>
          <a:srgbClr val="F9B7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-8100" y="0"/>
            <a:ext cx="9152100" cy="24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3" name="Google Shape;10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0288" y="2707819"/>
            <a:ext cx="1080338" cy="49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">
  <p:cSld name="TITLE_1_1_1_1_1_1_1_1">
    <p:bg>
      <p:bgPr>
        <a:solidFill>
          <a:srgbClr val="FA5A5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4"/>
          <p:cNvGrpSpPr/>
          <p:nvPr/>
        </p:nvGrpSpPr>
        <p:grpSpPr>
          <a:xfrm>
            <a:off x="8336403" y="4693208"/>
            <a:ext cx="350758" cy="113064"/>
            <a:chOff x="238125" y="1706125"/>
            <a:chExt cx="7143750" cy="2302725"/>
          </a:xfrm>
        </p:grpSpPr>
        <p:sp>
          <p:nvSpPr>
            <p:cNvPr id="106" name="Google Shape;106;p24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4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4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4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 ">
  <p:cSld name="TITLE_1_1_1_1_1_1_1_1_2"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5"/>
          <p:cNvGrpSpPr/>
          <p:nvPr/>
        </p:nvGrpSpPr>
        <p:grpSpPr>
          <a:xfrm>
            <a:off x="8336403" y="4693208"/>
            <a:ext cx="350758" cy="113064"/>
            <a:chOff x="238125" y="1706125"/>
            <a:chExt cx="7143750" cy="2302725"/>
          </a:xfrm>
        </p:grpSpPr>
        <p:sp>
          <p:nvSpPr>
            <p:cNvPr id="112" name="Google Shape;112;p25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95E4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95E4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95E4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5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95E4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RED BACKGROUND">
  <p:cSld name="TITLE_1_1_1_1_1_1_1_1_1">
    <p:bg>
      <p:bgPr>
        <a:solidFill>
          <a:srgbClr val="69003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6"/>
          <p:cNvGrpSpPr/>
          <p:nvPr/>
        </p:nvGrpSpPr>
        <p:grpSpPr>
          <a:xfrm>
            <a:off x="8336403" y="4693208"/>
            <a:ext cx="350758" cy="113064"/>
            <a:chOff x="238125" y="1706125"/>
            <a:chExt cx="7143750" cy="2302725"/>
          </a:xfrm>
        </p:grpSpPr>
        <p:sp>
          <p:nvSpPr>
            <p:cNvPr id="118" name="Google Shape;118;p26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6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6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6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 BACKGROUND">
  <p:cSld name="TITLE_1_1_1_1_1_1_1_1_1_1">
    <p:bg>
      <p:bgPr>
        <a:solidFill>
          <a:srgbClr val="B4DCF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27"/>
          <p:cNvGrpSpPr/>
          <p:nvPr/>
        </p:nvGrpSpPr>
        <p:grpSpPr>
          <a:xfrm>
            <a:off x="8336403" y="4693208"/>
            <a:ext cx="350758" cy="113064"/>
            <a:chOff x="238125" y="1706125"/>
            <a:chExt cx="7143750" cy="2302725"/>
          </a:xfrm>
        </p:grpSpPr>
        <p:sp>
          <p:nvSpPr>
            <p:cNvPr id="124" name="Google Shape;124;p27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BACKGROUND ">
  <p:cSld name="TITLE_1_1_1_1_1_1_1_1_1_1_1">
    <p:bg>
      <p:bgPr>
        <a:solidFill>
          <a:srgbClr val="00005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8"/>
          <p:cNvGrpSpPr/>
          <p:nvPr/>
        </p:nvGrpSpPr>
        <p:grpSpPr>
          <a:xfrm>
            <a:off x="8336403" y="4693208"/>
            <a:ext cx="350758" cy="113064"/>
            <a:chOff x="238125" y="1706125"/>
            <a:chExt cx="7143750" cy="2302725"/>
          </a:xfrm>
        </p:grpSpPr>
        <p:sp>
          <p:nvSpPr>
            <p:cNvPr id="130" name="Google Shape;130;p28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8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8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8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BACKGROUND ">
  <p:cSld name="TITLE_1_1_1_1_1_1_1_1_1_1_1_1">
    <p:bg>
      <p:bgPr>
        <a:solidFill>
          <a:srgbClr val="F9B7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9"/>
          <p:cNvGrpSpPr/>
          <p:nvPr/>
        </p:nvGrpSpPr>
        <p:grpSpPr>
          <a:xfrm>
            <a:off x="8336403" y="4693208"/>
            <a:ext cx="350758" cy="113064"/>
            <a:chOff x="238125" y="1706125"/>
            <a:chExt cx="7143750" cy="2302725"/>
          </a:xfrm>
        </p:grpSpPr>
        <p:sp>
          <p:nvSpPr>
            <p:cNvPr id="136" name="Google Shape;136;p29"/>
            <p:cNvSpPr/>
            <p:nvPr/>
          </p:nvSpPr>
          <p:spPr>
            <a:xfrm>
              <a:off x="238125" y="1711600"/>
              <a:ext cx="2348400" cy="2297250"/>
            </a:xfrm>
            <a:custGeom>
              <a:rect b="b" l="l" r="r" t="t"/>
              <a:pathLst>
                <a:path extrusionOk="0" h="91890" w="93936">
                  <a:moveTo>
                    <a:pt x="48136" y="0"/>
                  </a:moveTo>
                  <a:lnTo>
                    <a:pt x="45580" y="73"/>
                  </a:lnTo>
                  <a:lnTo>
                    <a:pt x="43023" y="219"/>
                  </a:lnTo>
                  <a:lnTo>
                    <a:pt x="40540" y="438"/>
                  </a:lnTo>
                  <a:lnTo>
                    <a:pt x="38129" y="804"/>
                  </a:lnTo>
                  <a:lnTo>
                    <a:pt x="35719" y="1242"/>
                  </a:lnTo>
                  <a:lnTo>
                    <a:pt x="33381" y="1826"/>
                  </a:lnTo>
                  <a:lnTo>
                    <a:pt x="31117" y="2411"/>
                  </a:lnTo>
                  <a:lnTo>
                    <a:pt x="28926" y="3141"/>
                  </a:lnTo>
                  <a:lnTo>
                    <a:pt x="26807" y="4018"/>
                  </a:lnTo>
                  <a:lnTo>
                    <a:pt x="24689" y="4894"/>
                  </a:lnTo>
                  <a:lnTo>
                    <a:pt x="22717" y="5917"/>
                  </a:lnTo>
                  <a:lnTo>
                    <a:pt x="20745" y="7012"/>
                  </a:lnTo>
                  <a:lnTo>
                    <a:pt x="18845" y="8181"/>
                  </a:lnTo>
                  <a:lnTo>
                    <a:pt x="17092" y="9496"/>
                  </a:lnTo>
                  <a:lnTo>
                    <a:pt x="15339" y="10811"/>
                  </a:lnTo>
                  <a:lnTo>
                    <a:pt x="13659" y="12272"/>
                  </a:lnTo>
                  <a:lnTo>
                    <a:pt x="12125" y="13806"/>
                  </a:lnTo>
                  <a:lnTo>
                    <a:pt x="10664" y="15413"/>
                  </a:lnTo>
                  <a:lnTo>
                    <a:pt x="9204" y="17093"/>
                  </a:lnTo>
                  <a:lnTo>
                    <a:pt x="7962" y="18846"/>
                  </a:lnTo>
                  <a:lnTo>
                    <a:pt x="6720" y="20745"/>
                  </a:lnTo>
                  <a:lnTo>
                    <a:pt x="5551" y="22644"/>
                  </a:lnTo>
                  <a:lnTo>
                    <a:pt x="4529" y="24616"/>
                  </a:lnTo>
                  <a:lnTo>
                    <a:pt x="3652" y="26734"/>
                  </a:lnTo>
                  <a:lnTo>
                    <a:pt x="2776" y="28926"/>
                  </a:lnTo>
                  <a:lnTo>
                    <a:pt x="2045" y="31117"/>
                  </a:lnTo>
                  <a:lnTo>
                    <a:pt x="1461" y="33454"/>
                  </a:lnTo>
                  <a:lnTo>
                    <a:pt x="950" y="35792"/>
                  </a:lnTo>
                  <a:lnTo>
                    <a:pt x="511" y="38275"/>
                  </a:lnTo>
                  <a:lnTo>
                    <a:pt x="219" y="40832"/>
                  </a:lnTo>
                  <a:lnTo>
                    <a:pt x="73" y="43389"/>
                  </a:lnTo>
                  <a:lnTo>
                    <a:pt x="0" y="46091"/>
                  </a:lnTo>
                  <a:lnTo>
                    <a:pt x="73" y="48575"/>
                  </a:lnTo>
                  <a:lnTo>
                    <a:pt x="219" y="51058"/>
                  </a:lnTo>
                  <a:lnTo>
                    <a:pt x="511" y="53469"/>
                  </a:lnTo>
                  <a:lnTo>
                    <a:pt x="877" y="55806"/>
                  </a:lnTo>
                  <a:lnTo>
                    <a:pt x="1315" y="58143"/>
                  </a:lnTo>
                  <a:lnTo>
                    <a:pt x="1899" y="60335"/>
                  </a:lnTo>
                  <a:lnTo>
                    <a:pt x="2557" y="62526"/>
                  </a:lnTo>
                  <a:lnTo>
                    <a:pt x="3360" y="64644"/>
                  </a:lnTo>
                  <a:lnTo>
                    <a:pt x="4164" y="66690"/>
                  </a:lnTo>
                  <a:lnTo>
                    <a:pt x="5113" y="68662"/>
                  </a:lnTo>
                  <a:lnTo>
                    <a:pt x="6209" y="70634"/>
                  </a:lnTo>
                  <a:lnTo>
                    <a:pt x="7304" y="72460"/>
                  </a:lnTo>
                  <a:lnTo>
                    <a:pt x="8546" y="74213"/>
                  </a:lnTo>
                  <a:lnTo>
                    <a:pt x="9861" y="75966"/>
                  </a:lnTo>
                  <a:lnTo>
                    <a:pt x="11249" y="77573"/>
                  </a:lnTo>
                  <a:lnTo>
                    <a:pt x="12783" y="79107"/>
                  </a:lnTo>
                  <a:lnTo>
                    <a:pt x="14317" y="80568"/>
                  </a:lnTo>
                  <a:lnTo>
                    <a:pt x="15997" y="81956"/>
                  </a:lnTo>
                  <a:lnTo>
                    <a:pt x="17677" y="83271"/>
                  </a:lnTo>
                  <a:lnTo>
                    <a:pt x="19503" y="84513"/>
                  </a:lnTo>
                  <a:lnTo>
                    <a:pt x="21402" y="85681"/>
                  </a:lnTo>
                  <a:lnTo>
                    <a:pt x="23301" y="86704"/>
                  </a:lnTo>
                  <a:lnTo>
                    <a:pt x="25346" y="87653"/>
                  </a:lnTo>
                  <a:lnTo>
                    <a:pt x="27465" y="88530"/>
                  </a:lnTo>
                  <a:lnTo>
                    <a:pt x="29656" y="89260"/>
                  </a:lnTo>
                  <a:lnTo>
                    <a:pt x="31847" y="89991"/>
                  </a:lnTo>
                  <a:lnTo>
                    <a:pt x="34185" y="90502"/>
                  </a:lnTo>
                  <a:lnTo>
                    <a:pt x="36522" y="91013"/>
                  </a:lnTo>
                  <a:lnTo>
                    <a:pt x="38933" y="91379"/>
                  </a:lnTo>
                  <a:lnTo>
                    <a:pt x="41489" y="91671"/>
                  </a:lnTo>
                  <a:lnTo>
                    <a:pt x="44046" y="91817"/>
                  </a:lnTo>
                  <a:lnTo>
                    <a:pt x="46602" y="91890"/>
                  </a:lnTo>
                  <a:lnTo>
                    <a:pt x="49086" y="91817"/>
                  </a:lnTo>
                  <a:lnTo>
                    <a:pt x="51423" y="91671"/>
                  </a:lnTo>
                  <a:lnTo>
                    <a:pt x="53761" y="91452"/>
                  </a:lnTo>
                  <a:lnTo>
                    <a:pt x="56025" y="91160"/>
                  </a:lnTo>
                  <a:lnTo>
                    <a:pt x="58216" y="90721"/>
                  </a:lnTo>
                  <a:lnTo>
                    <a:pt x="60408" y="90210"/>
                  </a:lnTo>
                  <a:lnTo>
                    <a:pt x="62526" y="89626"/>
                  </a:lnTo>
                  <a:lnTo>
                    <a:pt x="64571" y="88968"/>
                  </a:lnTo>
                  <a:lnTo>
                    <a:pt x="66544" y="88238"/>
                  </a:lnTo>
                  <a:lnTo>
                    <a:pt x="68516" y="87434"/>
                  </a:lnTo>
                  <a:lnTo>
                    <a:pt x="70342" y="86485"/>
                  </a:lnTo>
                  <a:lnTo>
                    <a:pt x="72168" y="85535"/>
                  </a:lnTo>
                  <a:lnTo>
                    <a:pt x="73921" y="84439"/>
                  </a:lnTo>
                  <a:lnTo>
                    <a:pt x="75601" y="83271"/>
                  </a:lnTo>
                  <a:lnTo>
                    <a:pt x="77208" y="82029"/>
                  </a:lnTo>
                  <a:lnTo>
                    <a:pt x="78815" y="80787"/>
                  </a:lnTo>
                  <a:lnTo>
                    <a:pt x="80276" y="79399"/>
                  </a:lnTo>
                  <a:lnTo>
                    <a:pt x="81664" y="77939"/>
                  </a:lnTo>
                  <a:lnTo>
                    <a:pt x="83052" y="76405"/>
                  </a:lnTo>
                  <a:lnTo>
                    <a:pt x="84366" y="74871"/>
                  </a:lnTo>
                  <a:lnTo>
                    <a:pt x="85535" y="73191"/>
                  </a:lnTo>
                  <a:lnTo>
                    <a:pt x="86704" y="71438"/>
                  </a:lnTo>
                  <a:lnTo>
                    <a:pt x="87726" y="69685"/>
                  </a:lnTo>
                  <a:lnTo>
                    <a:pt x="88749" y="67785"/>
                  </a:lnTo>
                  <a:lnTo>
                    <a:pt x="89699" y="65886"/>
                  </a:lnTo>
                  <a:lnTo>
                    <a:pt x="90502" y="63914"/>
                  </a:lnTo>
                  <a:lnTo>
                    <a:pt x="91306" y="61869"/>
                  </a:lnTo>
                  <a:lnTo>
                    <a:pt x="91963" y="59750"/>
                  </a:lnTo>
                  <a:lnTo>
                    <a:pt x="92620" y="57559"/>
                  </a:lnTo>
                  <a:lnTo>
                    <a:pt x="93132" y="55368"/>
                  </a:lnTo>
                  <a:lnTo>
                    <a:pt x="93570" y="53103"/>
                  </a:lnTo>
                  <a:lnTo>
                    <a:pt x="93935" y="50766"/>
                  </a:lnTo>
                  <a:lnTo>
                    <a:pt x="81445" y="50766"/>
                  </a:lnTo>
                  <a:lnTo>
                    <a:pt x="81152" y="52227"/>
                  </a:lnTo>
                  <a:lnTo>
                    <a:pt x="80787" y="53688"/>
                  </a:lnTo>
                  <a:lnTo>
                    <a:pt x="80422" y="55149"/>
                  </a:lnTo>
                  <a:lnTo>
                    <a:pt x="79984" y="56537"/>
                  </a:lnTo>
                  <a:lnTo>
                    <a:pt x="79545" y="57924"/>
                  </a:lnTo>
                  <a:lnTo>
                    <a:pt x="79034" y="59239"/>
                  </a:lnTo>
                  <a:lnTo>
                    <a:pt x="78450" y="60554"/>
                  </a:lnTo>
                  <a:lnTo>
                    <a:pt x="77865" y="61796"/>
                  </a:lnTo>
                  <a:lnTo>
                    <a:pt x="77208" y="62964"/>
                  </a:lnTo>
                  <a:lnTo>
                    <a:pt x="76551" y="64133"/>
                  </a:lnTo>
                  <a:lnTo>
                    <a:pt x="75820" y="65229"/>
                  </a:lnTo>
                  <a:lnTo>
                    <a:pt x="75017" y="66324"/>
                  </a:lnTo>
                  <a:lnTo>
                    <a:pt x="74213" y="67347"/>
                  </a:lnTo>
                  <a:lnTo>
                    <a:pt x="73410" y="68370"/>
                  </a:lnTo>
                  <a:lnTo>
                    <a:pt x="72533" y="69319"/>
                  </a:lnTo>
                  <a:lnTo>
                    <a:pt x="71584" y="70196"/>
                  </a:lnTo>
                  <a:lnTo>
                    <a:pt x="70634" y="71072"/>
                  </a:lnTo>
                  <a:lnTo>
                    <a:pt x="69611" y="71876"/>
                  </a:lnTo>
                  <a:lnTo>
                    <a:pt x="68589" y="72606"/>
                  </a:lnTo>
                  <a:lnTo>
                    <a:pt x="67493" y="73337"/>
                  </a:lnTo>
                  <a:lnTo>
                    <a:pt x="66397" y="73921"/>
                  </a:lnTo>
                  <a:lnTo>
                    <a:pt x="65229" y="74578"/>
                  </a:lnTo>
                  <a:lnTo>
                    <a:pt x="64060" y="75090"/>
                  </a:lnTo>
                  <a:lnTo>
                    <a:pt x="62818" y="75601"/>
                  </a:lnTo>
                  <a:lnTo>
                    <a:pt x="61576" y="76039"/>
                  </a:lnTo>
                  <a:lnTo>
                    <a:pt x="60262" y="76405"/>
                  </a:lnTo>
                  <a:lnTo>
                    <a:pt x="58947" y="76770"/>
                  </a:lnTo>
                  <a:lnTo>
                    <a:pt x="57559" y="76989"/>
                  </a:lnTo>
                  <a:lnTo>
                    <a:pt x="56171" y="77208"/>
                  </a:lnTo>
                  <a:lnTo>
                    <a:pt x="54710" y="77354"/>
                  </a:lnTo>
                  <a:lnTo>
                    <a:pt x="53249" y="77427"/>
                  </a:lnTo>
                  <a:lnTo>
                    <a:pt x="51789" y="77500"/>
                  </a:lnTo>
                  <a:lnTo>
                    <a:pt x="50109" y="77427"/>
                  </a:lnTo>
                  <a:lnTo>
                    <a:pt x="48502" y="77354"/>
                  </a:lnTo>
                  <a:lnTo>
                    <a:pt x="46895" y="77135"/>
                  </a:lnTo>
                  <a:lnTo>
                    <a:pt x="45361" y="76916"/>
                  </a:lnTo>
                  <a:lnTo>
                    <a:pt x="43900" y="76551"/>
                  </a:lnTo>
                  <a:lnTo>
                    <a:pt x="42439" y="76112"/>
                  </a:lnTo>
                  <a:lnTo>
                    <a:pt x="41051" y="75674"/>
                  </a:lnTo>
                  <a:lnTo>
                    <a:pt x="39736" y="75090"/>
                  </a:lnTo>
                  <a:lnTo>
                    <a:pt x="38421" y="74505"/>
                  </a:lnTo>
                  <a:lnTo>
                    <a:pt x="37180" y="73775"/>
                  </a:lnTo>
                  <a:lnTo>
                    <a:pt x="36011" y="73045"/>
                  </a:lnTo>
                  <a:lnTo>
                    <a:pt x="34842" y="72168"/>
                  </a:lnTo>
                  <a:lnTo>
                    <a:pt x="33747" y="71291"/>
                  </a:lnTo>
                  <a:lnTo>
                    <a:pt x="32724" y="70342"/>
                  </a:lnTo>
                  <a:lnTo>
                    <a:pt x="31701" y="69319"/>
                  </a:lnTo>
                  <a:lnTo>
                    <a:pt x="30752" y="68224"/>
                  </a:lnTo>
                  <a:lnTo>
                    <a:pt x="29875" y="67128"/>
                  </a:lnTo>
                  <a:lnTo>
                    <a:pt x="29072" y="65886"/>
                  </a:lnTo>
                  <a:lnTo>
                    <a:pt x="28268" y="64644"/>
                  </a:lnTo>
                  <a:lnTo>
                    <a:pt x="27538" y="63330"/>
                  </a:lnTo>
                  <a:lnTo>
                    <a:pt x="26880" y="61942"/>
                  </a:lnTo>
                  <a:lnTo>
                    <a:pt x="26223" y="60481"/>
                  </a:lnTo>
                  <a:lnTo>
                    <a:pt x="25712" y="59020"/>
                  </a:lnTo>
                  <a:lnTo>
                    <a:pt x="25200" y="57486"/>
                  </a:lnTo>
                  <a:lnTo>
                    <a:pt x="24762" y="55879"/>
                  </a:lnTo>
                  <a:lnTo>
                    <a:pt x="24324" y="54199"/>
                  </a:lnTo>
                  <a:lnTo>
                    <a:pt x="24032" y="52519"/>
                  </a:lnTo>
                  <a:lnTo>
                    <a:pt x="23739" y="50766"/>
                  </a:lnTo>
                  <a:lnTo>
                    <a:pt x="23520" y="48940"/>
                  </a:lnTo>
                  <a:lnTo>
                    <a:pt x="23374" y="47114"/>
                  </a:lnTo>
                  <a:lnTo>
                    <a:pt x="23301" y="45215"/>
                  </a:lnTo>
                  <a:lnTo>
                    <a:pt x="23228" y="43242"/>
                  </a:lnTo>
                  <a:lnTo>
                    <a:pt x="23301" y="41562"/>
                  </a:lnTo>
                  <a:lnTo>
                    <a:pt x="23374" y="39809"/>
                  </a:lnTo>
                  <a:lnTo>
                    <a:pt x="23520" y="38129"/>
                  </a:lnTo>
                  <a:lnTo>
                    <a:pt x="23666" y="36522"/>
                  </a:lnTo>
                  <a:lnTo>
                    <a:pt x="23959" y="34915"/>
                  </a:lnTo>
                  <a:lnTo>
                    <a:pt x="24251" y="33308"/>
                  </a:lnTo>
                  <a:lnTo>
                    <a:pt x="24543" y="31774"/>
                  </a:lnTo>
                  <a:lnTo>
                    <a:pt x="24981" y="30241"/>
                  </a:lnTo>
                  <a:lnTo>
                    <a:pt x="25419" y="28780"/>
                  </a:lnTo>
                  <a:lnTo>
                    <a:pt x="25931" y="27319"/>
                  </a:lnTo>
                  <a:lnTo>
                    <a:pt x="26515" y="25931"/>
                  </a:lnTo>
                  <a:lnTo>
                    <a:pt x="27100" y="24616"/>
                  </a:lnTo>
                  <a:lnTo>
                    <a:pt x="27757" y="23301"/>
                  </a:lnTo>
                  <a:lnTo>
                    <a:pt x="28414" y="22060"/>
                  </a:lnTo>
                  <a:lnTo>
                    <a:pt x="29145" y="20818"/>
                  </a:lnTo>
                  <a:lnTo>
                    <a:pt x="29948" y="19649"/>
                  </a:lnTo>
                  <a:lnTo>
                    <a:pt x="30825" y="18553"/>
                  </a:lnTo>
                  <a:lnTo>
                    <a:pt x="31701" y="17531"/>
                  </a:lnTo>
                  <a:lnTo>
                    <a:pt x="32578" y="16581"/>
                  </a:lnTo>
                  <a:lnTo>
                    <a:pt x="33600" y="15632"/>
                  </a:lnTo>
                  <a:lnTo>
                    <a:pt x="34623" y="14755"/>
                  </a:lnTo>
                  <a:lnTo>
                    <a:pt x="35646" y="13952"/>
                  </a:lnTo>
                  <a:lnTo>
                    <a:pt x="36741" y="13221"/>
                  </a:lnTo>
                  <a:lnTo>
                    <a:pt x="37910" y="12564"/>
                  </a:lnTo>
                  <a:lnTo>
                    <a:pt x="39079" y="11979"/>
                  </a:lnTo>
                  <a:lnTo>
                    <a:pt x="40321" y="11468"/>
                  </a:lnTo>
                  <a:lnTo>
                    <a:pt x="41562" y="11030"/>
                  </a:lnTo>
                  <a:lnTo>
                    <a:pt x="42877" y="10592"/>
                  </a:lnTo>
                  <a:lnTo>
                    <a:pt x="44192" y="10299"/>
                  </a:lnTo>
                  <a:lnTo>
                    <a:pt x="45580" y="10153"/>
                  </a:lnTo>
                  <a:lnTo>
                    <a:pt x="47041" y="10007"/>
                  </a:lnTo>
                  <a:lnTo>
                    <a:pt x="48502" y="9934"/>
                  </a:lnTo>
                  <a:lnTo>
                    <a:pt x="49670" y="10007"/>
                  </a:lnTo>
                  <a:lnTo>
                    <a:pt x="50839" y="10080"/>
                  </a:lnTo>
                  <a:lnTo>
                    <a:pt x="52008" y="10226"/>
                  </a:lnTo>
                  <a:lnTo>
                    <a:pt x="53103" y="10372"/>
                  </a:lnTo>
                  <a:lnTo>
                    <a:pt x="54199" y="10665"/>
                  </a:lnTo>
                  <a:lnTo>
                    <a:pt x="55222" y="10957"/>
                  </a:lnTo>
                  <a:lnTo>
                    <a:pt x="56244" y="11249"/>
                  </a:lnTo>
                  <a:lnTo>
                    <a:pt x="57267" y="11687"/>
                  </a:lnTo>
                  <a:lnTo>
                    <a:pt x="58216" y="12126"/>
                  </a:lnTo>
                  <a:lnTo>
                    <a:pt x="59166" y="12637"/>
                  </a:lnTo>
                  <a:lnTo>
                    <a:pt x="60043" y="13148"/>
                  </a:lnTo>
                  <a:lnTo>
                    <a:pt x="60919" y="13732"/>
                  </a:lnTo>
                  <a:lnTo>
                    <a:pt x="61796" y="14390"/>
                  </a:lnTo>
                  <a:lnTo>
                    <a:pt x="62599" y="15047"/>
                  </a:lnTo>
                  <a:lnTo>
                    <a:pt x="63403" y="15705"/>
                  </a:lnTo>
                  <a:lnTo>
                    <a:pt x="64133" y="16508"/>
                  </a:lnTo>
                  <a:lnTo>
                    <a:pt x="64864" y="17239"/>
                  </a:lnTo>
                  <a:lnTo>
                    <a:pt x="65521" y="18115"/>
                  </a:lnTo>
                  <a:lnTo>
                    <a:pt x="66178" y="18992"/>
                  </a:lnTo>
                  <a:lnTo>
                    <a:pt x="66836" y="19868"/>
                  </a:lnTo>
                  <a:lnTo>
                    <a:pt x="67420" y="20818"/>
                  </a:lnTo>
                  <a:lnTo>
                    <a:pt x="67931" y="21767"/>
                  </a:lnTo>
                  <a:lnTo>
                    <a:pt x="69027" y="23813"/>
                  </a:lnTo>
                  <a:lnTo>
                    <a:pt x="69904" y="25931"/>
                  </a:lnTo>
                  <a:lnTo>
                    <a:pt x="70707" y="28268"/>
                  </a:lnTo>
                  <a:lnTo>
                    <a:pt x="71364" y="30606"/>
                  </a:lnTo>
                  <a:lnTo>
                    <a:pt x="71876" y="33089"/>
                  </a:lnTo>
                  <a:lnTo>
                    <a:pt x="93351" y="33089"/>
                  </a:lnTo>
                  <a:lnTo>
                    <a:pt x="92840" y="31044"/>
                  </a:lnTo>
                  <a:lnTo>
                    <a:pt x="92255" y="29072"/>
                  </a:lnTo>
                  <a:lnTo>
                    <a:pt x="91598" y="27173"/>
                  </a:lnTo>
                  <a:lnTo>
                    <a:pt x="90867" y="25347"/>
                  </a:lnTo>
                  <a:lnTo>
                    <a:pt x="90064" y="23593"/>
                  </a:lnTo>
                  <a:lnTo>
                    <a:pt x="89187" y="21913"/>
                  </a:lnTo>
                  <a:lnTo>
                    <a:pt x="88238" y="20233"/>
                  </a:lnTo>
                  <a:lnTo>
                    <a:pt x="87288" y="18626"/>
                  </a:lnTo>
                  <a:lnTo>
                    <a:pt x="86192" y="17166"/>
                  </a:lnTo>
                  <a:lnTo>
                    <a:pt x="85097" y="15705"/>
                  </a:lnTo>
                  <a:lnTo>
                    <a:pt x="83928" y="14317"/>
                  </a:lnTo>
                  <a:lnTo>
                    <a:pt x="82686" y="13002"/>
                  </a:lnTo>
                  <a:lnTo>
                    <a:pt x="81445" y="11687"/>
                  </a:lnTo>
                  <a:lnTo>
                    <a:pt x="80057" y="10519"/>
                  </a:lnTo>
                  <a:lnTo>
                    <a:pt x="78669" y="9350"/>
                  </a:lnTo>
                  <a:lnTo>
                    <a:pt x="77208" y="8327"/>
                  </a:lnTo>
                  <a:lnTo>
                    <a:pt x="75747" y="7305"/>
                  </a:lnTo>
                  <a:lnTo>
                    <a:pt x="74213" y="6355"/>
                  </a:lnTo>
                  <a:lnTo>
                    <a:pt x="72606" y="5478"/>
                  </a:lnTo>
                  <a:lnTo>
                    <a:pt x="70926" y="4675"/>
                  </a:lnTo>
                  <a:lnTo>
                    <a:pt x="69246" y="3945"/>
                  </a:lnTo>
                  <a:lnTo>
                    <a:pt x="67566" y="3287"/>
                  </a:lnTo>
                  <a:lnTo>
                    <a:pt x="65740" y="2630"/>
                  </a:lnTo>
                  <a:lnTo>
                    <a:pt x="63914" y="2118"/>
                  </a:lnTo>
                  <a:lnTo>
                    <a:pt x="62088" y="1607"/>
                  </a:lnTo>
                  <a:lnTo>
                    <a:pt x="60189" y="1169"/>
                  </a:lnTo>
                  <a:lnTo>
                    <a:pt x="58289" y="804"/>
                  </a:lnTo>
                  <a:lnTo>
                    <a:pt x="56317" y="511"/>
                  </a:lnTo>
                  <a:lnTo>
                    <a:pt x="54345" y="292"/>
                  </a:lnTo>
                  <a:lnTo>
                    <a:pt x="52300" y="146"/>
                  </a:lnTo>
                  <a:lnTo>
                    <a:pt x="50255" y="73"/>
                  </a:lnTo>
                  <a:lnTo>
                    <a:pt x="48136" y="0"/>
                  </a:lnTo>
                  <a:close/>
                </a:path>
              </a:pathLst>
            </a:custGeom>
            <a:solidFill>
              <a:srgbClr val="69003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9"/>
            <p:cNvSpPr/>
            <p:nvPr/>
          </p:nvSpPr>
          <p:spPr>
            <a:xfrm>
              <a:off x="2703375" y="1749950"/>
              <a:ext cx="810800" cy="2211425"/>
            </a:xfrm>
            <a:custGeom>
              <a:rect b="b" l="l" r="r" t="t"/>
              <a:pathLst>
                <a:path extrusionOk="0" h="88457" w="32432">
                  <a:moveTo>
                    <a:pt x="0" y="0"/>
                  </a:moveTo>
                  <a:lnTo>
                    <a:pt x="0" y="438"/>
                  </a:lnTo>
                  <a:lnTo>
                    <a:pt x="804" y="1096"/>
                  </a:lnTo>
                  <a:lnTo>
                    <a:pt x="1461" y="1753"/>
                  </a:lnTo>
                  <a:lnTo>
                    <a:pt x="2045" y="2484"/>
                  </a:lnTo>
                  <a:lnTo>
                    <a:pt x="2630" y="3287"/>
                  </a:lnTo>
                  <a:lnTo>
                    <a:pt x="3068" y="4164"/>
                  </a:lnTo>
                  <a:lnTo>
                    <a:pt x="3506" y="5040"/>
                  </a:lnTo>
                  <a:lnTo>
                    <a:pt x="3871" y="5990"/>
                  </a:lnTo>
                  <a:lnTo>
                    <a:pt x="4164" y="7012"/>
                  </a:lnTo>
                  <a:lnTo>
                    <a:pt x="4456" y="8108"/>
                  </a:lnTo>
                  <a:lnTo>
                    <a:pt x="4675" y="9350"/>
                  </a:lnTo>
                  <a:lnTo>
                    <a:pt x="4821" y="10592"/>
                  </a:lnTo>
                  <a:lnTo>
                    <a:pt x="4967" y="11906"/>
                  </a:lnTo>
                  <a:lnTo>
                    <a:pt x="5113" y="14901"/>
                  </a:lnTo>
                  <a:lnTo>
                    <a:pt x="5186" y="18261"/>
                  </a:lnTo>
                  <a:lnTo>
                    <a:pt x="5186" y="70196"/>
                  </a:lnTo>
                  <a:lnTo>
                    <a:pt x="5113" y="73483"/>
                  </a:lnTo>
                  <a:lnTo>
                    <a:pt x="4967" y="76405"/>
                  </a:lnTo>
                  <a:lnTo>
                    <a:pt x="4821" y="77792"/>
                  </a:lnTo>
                  <a:lnTo>
                    <a:pt x="4675" y="79034"/>
                  </a:lnTo>
                  <a:lnTo>
                    <a:pt x="4456" y="80203"/>
                  </a:lnTo>
                  <a:lnTo>
                    <a:pt x="4164" y="81372"/>
                  </a:lnTo>
                  <a:lnTo>
                    <a:pt x="3871" y="82394"/>
                  </a:lnTo>
                  <a:lnTo>
                    <a:pt x="3506" y="83344"/>
                  </a:lnTo>
                  <a:lnTo>
                    <a:pt x="3068" y="84293"/>
                  </a:lnTo>
                  <a:lnTo>
                    <a:pt x="2630" y="85170"/>
                  </a:lnTo>
                  <a:lnTo>
                    <a:pt x="2045" y="85900"/>
                  </a:lnTo>
                  <a:lnTo>
                    <a:pt x="1461" y="86631"/>
                  </a:lnTo>
                  <a:lnTo>
                    <a:pt x="804" y="87361"/>
                  </a:lnTo>
                  <a:lnTo>
                    <a:pt x="0" y="88019"/>
                  </a:lnTo>
                  <a:lnTo>
                    <a:pt x="0" y="88457"/>
                  </a:lnTo>
                  <a:lnTo>
                    <a:pt x="32432" y="88457"/>
                  </a:lnTo>
                  <a:lnTo>
                    <a:pt x="32432" y="88019"/>
                  </a:lnTo>
                  <a:lnTo>
                    <a:pt x="31628" y="87361"/>
                  </a:lnTo>
                  <a:lnTo>
                    <a:pt x="30971" y="86631"/>
                  </a:lnTo>
                  <a:lnTo>
                    <a:pt x="30387" y="85900"/>
                  </a:lnTo>
                  <a:lnTo>
                    <a:pt x="29802" y="85170"/>
                  </a:lnTo>
                  <a:lnTo>
                    <a:pt x="29364" y="84293"/>
                  </a:lnTo>
                  <a:lnTo>
                    <a:pt x="28926" y="83344"/>
                  </a:lnTo>
                  <a:lnTo>
                    <a:pt x="28560" y="82394"/>
                  </a:lnTo>
                  <a:lnTo>
                    <a:pt x="28268" y="81372"/>
                  </a:lnTo>
                  <a:lnTo>
                    <a:pt x="27976" y="80203"/>
                  </a:lnTo>
                  <a:lnTo>
                    <a:pt x="27757" y="79034"/>
                  </a:lnTo>
                  <a:lnTo>
                    <a:pt x="27611" y="77792"/>
                  </a:lnTo>
                  <a:lnTo>
                    <a:pt x="27465" y="76405"/>
                  </a:lnTo>
                  <a:lnTo>
                    <a:pt x="27319" y="73483"/>
                  </a:lnTo>
                  <a:lnTo>
                    <a:pt x="27246" y="70196"/>
                  </a:lnTo>
                  <a:lnTo>
                    <a:pt x="27246" y="18261"/>
                  </a:lnTo>
                  <a:lnTo>
                    <a:pt x="27319" y="14901"/>
                  </a:lnTo>
                  <a:lnTo>
                    <a:pt x="27465" y="11906"/>
                  </a:lnTo>
                  <a:lnTo>
                    <a:pt x="27611" y="10592"/>
                  </a:lnTo>
                  <a:lnTo>
                    <a:pt x="27757" y="9350"/>
                  </a:lnTo>
                  <a:lnTo>
                    <a:pt x="27976" y="8108"/>
                  </a:lnTo>
                  <a:lnTo>
                    <a:pt x="28268" y="7012"/>
                  </a:lnTo>
                  <a:lnTo>
                    <a:pt x="28560" y="5990"/>
                  </a:lnTo>
                  <a:lnTo>
                    <a:pt x="28926" y="5040"/>
                  </a:lnTo>
                  <a:lnTo>
                    <a:pt x="29364" y="4164"/>
                  </a:lnTo>
                  <a:lnTo>
                    <a:pt x="29802" y="3287"/>
                  </a:lnTo>
                  <a:lnTo>
                    <a:pt x="30387" y="2484"/>
                  </a:lnTo>
                  <a:lnTo>
                    <a:pt x="30971" y="1753"/>
                  </a:lnTo>
                  <a:lnTo>
                    <a:pt x="31628" y="1096"/>
                  </a:lnTo>
                  <a:lnTo>
                    <a:pt x="32432" y="438"/>
                  </a:lnTo>
                  <a:lnTo>
                    <a:pt x="32432" y="0"/>
                  </a:lnTo>
                  <a:close/>
                </a:path>
              </a:pathLst>
            </a:custGeom>
            <a:solidFill>
              <a:srgbClr val="69003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9"/>
            <p:cNvSpPr/>
            <p:nvPr/>
          </p:nvSpPr>
          <p:spPr>
            <a:xfrm>
              <a:off x="5433400" y="1749950"/>
              <a:ext cx="1948475" cy="2211425"/>
            </a:xfrm>
            <a:custGeom>
              <a:rect b="b" l="l" r="r" t="t"/>
              <a:pathLst>
                <a:path extrusionOk="0" h="88457" w="77939">
                  <a:moveTo>
                    <a:pt x="1" y="0"/>
                  </a:moveTo>
                  <a:lnTo>
                    <a:pt x="1" y="16362"/>
                  </a:lnTo>
                  <a:lnTo>
                    <a:pt x="4602" y="14609"/>
                  </a:lnTo>
                  <a:lnTo>
                    <a:pt x="8693" y="13075"/>
                  </a:lnTo>
                  <a:lnTo>
                    <a:pt x="12345" y="11833"/>
                  </a:lnTo>
                  <a:lnTo>
                    <a:pt x="15705" y="10811"/>
                  </a:lnTo>
                  <a:lnTo>
                    <a:pt x="17239" y="10372"/>
                  </a:lnTo>
                  <a:lnTo>
                    <a:pt x="18773" y="10007"/>
                  </a:lnTo>
                  <a:lnTo>
                    <a:pt x="20307" y="9715"/>
                  </a:lnTo>
                  <a:lnTo>
                    <a:pt x="21768" y="9423"/>
                  </a:lnTo>
                  <a:lnTo>
                    <a:pt x="23229" y="9277"/>
                  </a:lnTo>
                  <a:lnTo>
                    <a:pt x="24617" y="9131"/>
                  </a:lnTo>
                  <a:lnTo>
                    <a:pt x="26077" y="9058"/>
                  </a:lnTo>
                  <a:lnTo>
                    <a:pt x="27611" y="8985"/>
                  </a:lnTo>
                  <a:lnTo>
                    <a:pt x="28050" y="8985"/>
                  </a:lnTo>
                  <a:lnTo>
                    <a:pt x="28050" y="70196"/>
                  </a:lnTo>
                  <a:lnTo>
                    <a:pt x="27977" y="73483"/>
                  </a:lnTo>
                  <a:lnTo>
                    <a:pt x="27830" y="76405"/>
                  </a:lnTo>
                  <a:lnTo>
                    <a:pt x="27684" y="77792"/>
                  </a:lnTo>
                  <a:lnTo>
                    <a:pt x="27538" y="79034"/>
                  </a:lnTo>
                  <a:lnTo>
                    <a:pt x="27319" y="80203"/>
                  </a:lnTo>
                  <a:lnTo>
                    <a:pt x="27027" y="81372"/>
                  </a:lnTo>
                  <a:lnTo>
                    <a:pt x="26735" y="82394"/>
                  </a:lnTo>
                  <a:lnTo>
                    <a:pt x="26370" y="83344"/>
                  </a:lnTo>
                  <a:lnTo>
                    <a:pt x="25931" y="84293"/>
                  </a:lnTo>
                  <a:lnTo>
                    <a:pt x="25493" y="85170"/>
                  </a:lnTo>
                  <a:lnTo>
                    <a:pt x="24909" y="85900"/>
                  </a:lnTo>
                  <a:lnTo>
                    <a:pt x="24324" y="86631"/>
                  </a:lnTo>
                  <a:lnTo>
                    <a:pt x="23667" y="87361"/>
                  </a:lnTo>
                  <a:lnTo>
                    <a:pt x="22937" y="88019"/>
                  </a:lnTo>
                  <a:lnTo>
                    <a:pt x="22937" y="88457"/>
                  </a:lnTo>
                  <a:lnTo>
                    <a:pt x="55149" y="88457"/>
                  </a:lnTo>
                  <a:lnTo>
                    <a:pt x="55149" y="88019"/>
                  </a:lnTo>
                  <a:lnTo>
                    <a:pt x="54419" y="87361"/>
                  </a:lnTo>
                  <a:lnTo>
                    <a:pt x="53761" y="86631"/>
                  </a:lnTo>
                  <a:lnTo>
                    <a:pt x="53104" y="85900"/>
                  </a:lnTo>
                  <a:lnTo>
                    <a:pt x="52593" y="85170"/>
                  </a:lnTo>
                  <a:lnTo>
                    <a:pt x="52081" y="84293"/>
                  </a:lnTo>
                  <a:lnTo>
                    <a:pt x="51716" y="83344"/>
                  </a:lnTo>
                  <a:lnTo>
                    <a:pt x="51351" y="82394"/>
                  </a:lnTo>
                  <a:lnTo>
                    <a:pt x="50986" y="81372"/>
                  </a:lnTo>
                  <a:lnTo>
                    <a:pt x="50766" y="80203"/>
                  </a:lnTo>
                  <a:lnTo>
                    <a:pt x="50547" y="79034"/>
                  </a:lnTo>
                  <a:lnTo>
                    <a:pt x="50328" y="77792"/>
                  </a:lnTo>
                  <a:lnTo>
                    <a:pt x="50255" y="76405"/>
                  </a:lnTo>
                  <a:lnTo>
                    <a:pt x="50036" y="73483"/>
                  </a:lnTo>
                  <a:lnTo>
                    <a:pt x="50036" y="70196"/>
                  </a:lnTo>
                  <a:lnTo>
                    <a:pt x="50036" y="8985"/>
                  </a:lnTo>
                  <a:lnTo>
                    <a:pt x="50620" y="8985"/>
                  </a:lnTo>
                  <a:lnTo>
                    <a:pt x="52081" y="9058"/>
                  </a:lnTo>
                  <a:lnTo>
                    <a:pt x="53469" y="9131"/>
                  </a:lnTo>
                  <a:lnTo>
                    <a:pt x="54930" y="9277"/>
                  </a:lnTo>
                  <a:lnTo>
                    <a:pt x="56391" y="9423"/>
                  </a:lnTo>
                  <a:lnTo>
                    <a:pt x="57852" y="9715"/>
                  </a:lnTo>
                  <a:lnTo>
                    <a:pt x="59313" y="10007"/>
                  </a:lnTo>
                  <a:lnTo>
                    <a:pt x="60847" y="10372"/>
                  </a:lnTo>
                  <a:lnTo>
                    <a:pt x="62381" y="10811"/>
                  </a:lnTo>
                  <a:lnTo>
                    <a:pt x="65741" y="11833"/>
                  </a:lnTo>
                  <a:lnTo>
                    <a:pt x="69320" y="13075"/>
                  </a:lnTo>
                  <a:lnTo>
                    <a:pt x="73410" y="14609"/>
                  </a:lnTo>
                  <a:lnTo>
                    <a:pt x="77939" y="16362"/>
                  </a:lnTo>
                  <a:lnTo>
                    <a:pt x="77939" y="0"/>
                  </a:lnTo>
                  <a:close/>
                </a:path>
              </a:pathLst>
            </a:custGeom>
            <a:solidFill>
              <a:srgbClr val="69003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9"/>
            <p:cNvSpPr/>
            <p:nvPr/>
          </p:nvSpPr>
          <p:spPr>
            <a:xfrm>
              <a:off x="3631025" y="1706125"/>
              <a:ext cx="2289975" cy="2297250"/>
            </a:xfrm>
            <a:custGeom>
              <a:rect b="b" l="l" r="r" t="t"/>
              <a:pathLst>
                <a:path extrusionOk="0" h="91890" w="91599">
                  <a:moveTo>
                    <a:pt x="25858" y="45799"/>
                  </a:moveTo>
                  <a:lnTo>
                    <a:pt x="53396" y="73848"/>
                  </a:lnTo>
                  <a:lnTo>
                    <a:pt x="52666" y="74505"/>
                  </a:lnTo>
                  <a:lnTo>
                    <a:pt x="51935" y="75163"/>
                  </a:lnTo>
                  <a:lnTo>
                    <a:pt x="51132" y="75820"/>
                  </a:lnTo>
                  <a:lnTo>
                    <a:pt x="50255" y="76404"/>
                  </a:lnTo>
                  <a:lnTo>
                    <a:pt x="49452" y="76989"/>
                  </a:lnTo>
                  <a:lnTo>
                    <a:pt x="48575" y="77500"/>
                  </a:lnTo>
                  <a:lnTo>
                    <a:pt x="47626" y="77938"/>
                  </a:lnTo>
                  <a:lnTo>
                    <a:pt x="46676" y="78377"/>
                  </a:lnTo>
                  <a:lnTo>
                    <a:pt x="45726" y="78742"/>
                  </a:lnTo>
                  <a:lnTo>
                    <a:pt x="44704" y="79107"/>
                  </a:lnTo>
                  <a:lnTo>
                    <a:pt x="43608" y="79326"/>
                  </a:lnTo>
                  <a:lnTo>
                    <a:pt x="42513" y="79618"/>
                  </a:lnTo>
                  <a:lnTo>
                    <a:pt x="41417" y="79765"/>
                  </a:lnTo>
                  <a:lnTo>
                    <a:pt x="40248" y="79911"/>
                  </a:lnTo>
                  <a:lnTo>
                    <a:pt x="39079" y="79984"/>
                  </a:lnTo>
                  <a:lnTo>
                    <a:pt x="36742" y="79984"/>
                  </a:lnTo>
                  <a:lnTo>
                    <a:pt x="35646" y="79911"/>
                  </a:lnTo>
                  <a:lnTo>
                    <a:pt x="34551" y="79838"/>
                  </a:lnTo>
                  <a:lnTo>
                    <a:pt x="33528" y="79691"/>
                  </a:lnTo>
                  <a:lnTo>
                    <a:pt x="32578" y="79472"/>
                  </a:lnTo>
                  <a:lnTo>
                    <a:pt x="31556" y="79180"/>
                  </a:lnTo>
                  <a:lnTo>
                    <a:pt x="30679" y="78961"/>
                  </a:lnTo>
                  <a:lnTo>
                    <a:pt x="29730" y="78596"/>
                  </a:lnTo>
                  <a:lnTo>
                    <a:pt x="28853" y="78231"/>
                  </a:lnTo>
                  <a:lnTo>
                    <a:pt x="27977" y="77865"/>
                  </a:lnTo>
                  <a:lnTo>
                    <a:pt x="27173" y="77427"/>
                  </a:lnTo>
                  <a:lnTo>
                    <a:pt x="26370" y="76916"/>
                  </a:lnTo>
                  <a:lnTo>
                    <a:pt x="25639" y="76404"/>
                  </a:lnTo>
                  <a:lnTo>
                    <a:pt x="24909" y="75893"/>
                  </a:lnTo>
                  <a:lnTo>
                    <a:pt x="24251" y="75309"/>
                  </a:lnTo>
                  <a:lnTo>
                    <a:pt x="23594" y="74651"/>
                  </a:lnTo>
                  <a:lnTo>
                    <a:pt x="22937" y="73994"/>
                  </a:lnTo>
                  <a:lnTo>
                    <a:pt x="22352" y="73337"/>
                  </a:lnTo>
                  <a:lnTo>
                    <a:pt x="21841" y="72606"/>
                  </a:lnTo>
                  <a:lnTo>
                    <a:pt x="21330" y="71876"/>
                  </a:lnTo>
                  <a:lnTo>
                    <a:pt x="20818" y="71145"/>
                  </a:lnTo>
                  <a:lnTo>
                    <a:pt x="20380" y="70342"/>
                  </a:lnTo>
                  <a:lnTo>
                    <a:pt x="20015" y="69465"/>
                  </a:lnTo>
                  <a:lnTo>
                    <a:pt x="19650" y="68662"/>
                  </a:lnTo>
                  <a:lnTo>
                    <a:pt x="19357" y="67785"/>
                  </a:lnTo>
                  <a:lnTo>
                    <a:pt x="19065" y="66909"/>
                  </a:lnTo>
                  <a:lnTo>
                    <a:pt x="18773" y="65959"/>
                  </a:lnTo>
                  <a:lnTo>
                    <a:pt x="18627" y="65010"/>
                  </a:lnTo>
                  <a:lnTo>
                    <a:pt x="18481" y="64060"/>
                  </a:lnTo>
                  <a:lnTo>
                    <a:pt x="18335" y="63037"/>
                  </a:lnTo>
                  <a:lnTo>
                    <a:pt x="18262" y="62088"/>
                  </a:lnTo>
                  <a:lnTo>
                    <a:pt x="18262" y="61065"/>
                  </a:lnTo>
                  <a:lnTo>
                    <a:pt x="18262" y="59896"/>
                  </a:lnTo>
                  <a:lnTo>
                    <a:pt x="18408" y="58801"/>
                  </a:lnTo>
                  <a:lnTo>
                    <a:pt x="18554" y="57705"/>
                  </a:lnTo>
                  <a:lnTo>
                    <a:pt x="18700" y="56609"/>
                  </a:lnTo>
                  <a:lnTo>
                    <a:pt x="18992" y="55514"/>
                  </a:lnTo>
                  <a:lnTo>
                    <a:pt x="19284" y="54491"/>
                  </a:lnTo>
                  <a:lnTo>
                    <a:pt x="19723" y="53469"/>
                  </a:lnTo>
                  <a:lnTo>
                    <a:pt x="20161" y="52519"/>
                  </a:lnTo>
                  <a:lnTo>
                    <a:pt x="20672" y="51569"/>
                  </a:lnTo>
                  <a:lnTo>
                    <a:pt x="21184" y="50620"/>
                  </a:lnTo>
                  <a:lnTo>
                    <a:pt x="21841" y="49743"/>
                  </a:lnTo>
                  <a:lnTo>
                    <a:pt x="22498" y="48867"/>
                  </a:lnTo>
                  <a:lnTo>
                    <a:pt x="23229" y="48063"/>
                  </a:lnTo>
                  <a:lnTo>
                    <a:pt x="24105" y="47260"/>
                  </a:lnTo>
                  <a:lnTo>
                    <a:pt x="24982" y="46529"/>
                  </a:lnTo>
                  <a:lnTo>
                    <a:pt x="25858" y="45799"/>
                  </a:lnTo>
                  <a:close/>
                  <a:moveTo>
                    <a:pt x="36377" y="0"/>
                  </a:moveTo>
                  <a:lnTo>
                    <a:pt x="35062" y="73"/>
                  </a:lnTo>
                  <a:lnTo>
                    <a:pt x="33747" y="219"/>
                  </a:lnTo>
                  <a:lnTo>
                    <a:pt x="32432" y="365"/>
                  </a:lnTo>
                  <a:lnTo>
                    <a:pt x="31191" y="584"/>
                  </a:lnTo>
                  <a:lnTo>
                    <a:pt x="29949" y="803"/>
                  </a:lnTo>
                  <a:lnTo>
                    <a:pt x="28780" y="1096"/>
                  </a:lnTo>
                  <a:lnTo>
                    <a:pt x="27611" y="1461"/>
                  </a:lnTo>
                  <a:lnTo>
                    <a:pt x="26443" y="1826"/>
                  </a:lnTo>
                  <a:lnTo>
                    <a:pt x="25347" y="2264"/>
                  </a:lnTo>
                  <a:lnTo>
                    <a:pt x="24251" y="2703"/>
                  </a:lnTo>
                  <a:lnTo>
                    <a:pt x="23229" y="3214"/>
                  </a:lnTo>
                  <a:lnTo>
                    <a:pt x="22206" y="3798"/>
                  </a:lnTo>
                  <a:lnTo>
                    <a:pt x="21257" y="4383"/>
                  </a:lnTo>
                  <a:lnTo>
                    <a:pt x="20307" y="4967"/>
                  </a:lnTo>
                  <a:lnTo>
                    <a:pt x="19430" y="5624"/>
                  </a:lnTo>
                  <a:lnTo>
                    <a:pt x="18627" y="6355"/>
                  </a:lnTo>
                  <a:lnTo>
                    <a:pt x="17824" y="7085"/>
                  </a:lnTo>
                  <a:lnTo>
                    <a:pt x="17020" y="7889"/>
                  </a:lnTo>
                  <a:lnTo>
                    <a:pt x="16363" y="8692"/>
                  </a:lnTo>
                  <a:lnTo>
                    <a:pt x="15705" y="9569"/>
                  </a:lnTo>
                  <a:lnTo>
                    <a:pt x="15048" y="10445"/>
                  </a:lnTo>
                  <a:lnTo>
                    <a:pt x="14537" y="11395"/>
                  </a:lnTo>
                  <a:lnTo>
                    <a:pt x="14025" y="12345"/>
                  </a:lnTo>
                  <a:lnTo>
                    <a:pt x="13587" y="13367"/>
                  </a:lnTo>
                  <a:lnTo>
                    <a:pt x="13149" y="14390"/>
                  </a:lnTo>
                  <a:lnTo>
                    <a:pt x="12856" y="15485"/>
                  </a:lnTo>
                  <a:lnTo>
                    <a:pt x="12564" y="16581"/>
                  </a:lnTo>
                  <a:lnTo>
                    <a:pt x="12345" y="17750"/>
                  </a:lnTo>
                  <a:lnTo>
                    <a:pt x="12199" y="18919"/>
                  </a:lnTo>
                  <a:lnTo>
                    <a:pt x="12126" y="20087"/>
                  </a:lnTo>
                  <a:lnTo>
                    <a:pt x="12053" y="21329"/>
                  </a:lnTo>
                  <a:lnTo>
                    <a:pt x="12126" y="22644"/>
                  </a:lnTo>
                  <a:lnTo>
                    <a:pt x="12199" y="23886"/>
                  </a:lnTo>
                  <a:lnTo>
                    <a:pt x="12418" y="25127"/>
                  </a:lnTo>
                  <a:lnTo>
                    <a:pt x="12637" y="26369"/>
                  </a:lnTo>
                  <a:lnTo>
                    <a:pt x="13003" y="27611"/>
                  </a:lnTo>
                  <a:lnTo>
                    <a:pt x="13368" y="28780"/>
                  </a:lnTo>
                  <a:lnTo>
                    <a:pt x="13879" y="29948"/>
                  </a:lnTo>
                  <a:lnTo>
                    <a:pt x="14390" y="31190"/>
                  </a:lnTo>
                  <a:lnTo>
                    <a:pt x="14975" y="32286"/>
                  </a:lnTo>
                  <a:lnTo>
                    <a:pt x="15705" y="33454"/>
                  </a:lnTo>
                  <a:lnTo>
                    <a:pt x="16436" y="34623"/>
                  </a:lnTo>
                  <a:lnTo>
                    <a:pt x="17166" y="35792"/>
                  </a:lnTo>
                  <a:lnTo>
                    <a:pt x="18992" y="38129"/>
                  </a:lnTo>
                  <a:lnTo>
                    <a:pt x="20964" y="40540"/>
                  </a:lnTo>
                  <a:lnTo>
                    <a:pt x="18627" y="41489"/>
                  </a:lnTo>
                  <a:lnTo>
                    <a:pt x="16363" y="42585"/>
                  </a:lnTo>
                  <a:lnTo>
                    <a:pt x="14317" y="43681"/>
                  </a:lnTo>
                  <a:lnTo>
                    <a:pt x="12272" y="44922"/>
                  </a:lnTo>
                  <a:lnTo>
                    <a:pt x="10446" y="46237"/>
                  </a:lnTo>
                  <a:lnTo>
                    <a:pt x="8693" y="47625"/>
                  </a:lnTo>
                  <a:lnTo>
                    <a:pt x="7159" y="49159"/>
                  </a:lnTo>
                  <a:lnTo>
                    <a:pt x="5698" y="50766"/>
                  </a:lnTo>
                  <a:lnTo>
                    <a:pt x="4383" y="52373"/>
                  </a:lnTo>
                  <a:lnTo>
                    <a:pt x="3799" y="53249"/>
                  </a:lnTo>
                  <a:lnTo>
                    <a:pt x="3288" y="54126"/>
                  </a:lnTo>
                  <a:lnTo>
                    <a:pt x="2776" y="55075"/>
                  </a:lnTo>
                  <a:lnTo>
                    <a:pt x="2265" y="56025"/>
                  </a:lnTo>
                  <a:lnTo>
                    <a:pt x="1827" y="56975"/>
                  </a:lnTo>
                  <a:lnTo>
                    <a:pt x="1462" y="57924"/>
                  </a:lnTo>
                  <a:lnTo>
                    <a:pt x="1096" y="58947"/>
                  </a:lnTo>
                  <a:lnTo>
                    <a:pt x="804" y="59969"/>
                  </a:lnTo>
                  <a:lnTo>
                    <a:pt x="585" y="60992"/>
                  </a:lnTo>
                  <a:lnTo>
                    <a:pt x="366" y="62088"/>
                  </a:lnTo>
                  <a:lnTo>
                    <a:pt x="220" y="63183"/>
                  </a:lnTo>
                  <a:lnTo>
                    <a:pt x="74" y="64279"/>
                  </a:lnTo>
                  <a:lnTo>
                    <a:pt x="1" y="65375"/>
                  </a:lnTo>
                  <a:lnTo>
                    <a:pt x="1" y="66543"/>
                  </a:lnTo>
                  <a:lnTo>
                    <a:pt x="1" y="68004"/>
                  </a:lnTo>
                  <a:lnTo>
                    <a:pt x="147" y="69392"/>
                  </a:lnTo>
                  <a:lnTo>
                    <a:pt x="293" y="70780"/>
                  </a:lnTo>
                  <a:lnTo>
                    <a:pt x="512" y="72095"/>
                  </a:lnTo>
                  <a:lnTo>
                    <a:pt x="877" y="73337"/>
                  </a:lnTo>
                  <a:lnTo>
                    <a:pt x="1242" y="74651"/>
                  </a:lnTo>
                  <a:lnTo>
                    <a:pt x="1681" y="75820"/>
                  </a:lnTo>
                  <a:lnTo>
                    <a:pt x="2192" y="77062"/>
                  </a:lnTo>
                  <a:lnTo>
                    <a:pt x="2703" y="78158"/>
                  </a:lnTo>
                  <a:lnTo>
                    <a:pt x="3361" y="79253"/>
                  </a:lnTo>
                  <a:lnTo>
                    <a:pt x="4018" y="80349"/>
                  </a:lnTo>
                  <a:lnTo>
                    <a:pt x="4749" y="81371"/>
                  </a:lnTo>
                  <a:lnTo>
                    <a:pt x="5552" y="82321"/>
                  </a:lnTo>
                  <a:lnTo>
                    <a:pt x="6429" y="83271"/>
                  </a:lnTo>
                  <a:lnTo>
                    <a:pt x="7305" y="84147"/>
                  </a:lnTo>
                  <a:lnTo>
                    <a:pt x="8255" y="85024"/>
                  </a:lnTo>
                  <a:lnTo>
                    <a:pt x="9277" y="85827"/>
                  </a:lnTo>
                  <a:lnTo>
                    <a:pt x="10300" y="86558"/>
                  </a:lnTo>
                  <a:lnTo>
                    <a:pt x="11396" y="87288"/>
                  </a:lnTo>
                  <a:lnTo>
                    <a:pt x="12564" y="87945"/>
                  </a:lnTo>
                  <a:lnTo>
                    <a:pt x="13733" y="88530"/>
                  </a:lnTo>
                  <a:lnTo>
                    <a:pt x="14975" y="89114"/>
                  </a:lnTo>
                  <a:lnTo>
                    <a:pt x="16290" y="89625"/>
                  </a:lnTo>
                  <a:lnTo>
                    <a:pt x="17604" y="90064"/>
                  </a:lnTo>
                  <a:lnTo>
                    <a:pt x="18919" y="90502"/>
                  </a:lnTo>
                  <a:lnTo>
                    <a:pt x="20380" y="90867"/>
                  </a:lnTo>
                  <a:lnTo>
                    <a:pt x="21768" y="91159"/>
                  </a:lnTo>
                  <a:lnTo>
                    <a:pt x="23302" y="91379"/>
                  </a:lnTo>
                  <a:lnTo>
                    <a:pt x="24763" y="91598"/>
                  </a:lnTo>
                  <a:lnTo>
                    <a:pt x="26297" y="91744"/>
                  </a:lnTo>
                  <a:lnTo>
                    <a:pt x="27904" y="91817"/>
                  </a:lnTo>
                  <a:lnTo>
                    <a:pt x="29511" y="91890"/>
                  </a:lnTo>
                  <a:lnTo>
                    <a:pt x="31775" y="91817"/>
                  </a:lnTo>
                  <a:lnTo>
                    <a:pt x="33966" y="91598"/>
                  </a:lnTo>
                  <a:lnTo>
                    <a:pt x="36085" y="91379"/>
                  </a:lnTo>
                  <a:lnTo>
                    <a:pt x="38130" y="90940"/>
                  </a:lnTo>
                  <a:lnTo>
                    <a:pt x="40102" y="90502"/>
                  </a:lnTo>
                  <a:lnTo>
                    <a:pt x="42074" y="89918"/>
                  </a:lnTo>
                  <a:lnTo>
                    <a:pt x="43900" y="89187"/>
                  </a:lnTo>
                  <a:lnTo>
                    <a:pt x="45726" y="88457"/>
                  </a:lnTo>
                  <a:lnTo>
                    <a:pt x="47553" y="87580"/>
                  </a:lnTo>
                  <a:lnTo>
                    <a:pt x="49233" y="86631"/>
                  </a:lnTo>
                  <a:lnTo>
                    <a:pt x="50913" y="85535"/>
                  </a:lnTo>
                  <a:lnTo>
                    <a:pt x="52520" y="84439"/>
                  </a:lnTo>
                  <a:lnTo>
                    <a:pt x="54127" y="83271"/>
                  </a:lnTo>
                  <a:lnTo>
                    <a:pt x="55661" y="81956"/>
                  </a:lnTo>
                  <a:lnTo>
                    <a:pt x="57121" y="80641"/>
                  </a:lnTo>
                  <a:lnTo>
                    <a:pt x="58582" y="79180"/>
                  </a:lnTo>
                  <a:lnTo>
                    <a:pt x="69320" y="90210"/>
                  </a:lnTo>
                  <a:lnTo>
                    <a:pt x="91598" y="90210"/>
                  </a:lnTo>
                  <a:lnTo>
                    <a:pt x="91598" y="88457"/>
                  </a:lnTo>
                  <a:lnTo>
                    <a:pt x="69028" y="65740"/>
                  </a:lnTo>
                  <a:lnTo>
                    <a:pt x="70562" y="63256"/>
                  </a:lnTo>
                  <a:lnTo>
                    <a:pt x="72096" y="60700"/>
                  </a:lnTo>
                  <a:lnTo>
                    <a:pt x="73629" y="58070"/>
                  </a:lnTo>
                  <a:lnTo>
                    <a:pt x="75090" y="55368"/>
                  </a:lnTo>
                  <a:lnTo>
                    <a:pt x="78012" y="49816"/>
                  </a:lnTo>
                  <a:lnTo>
                    <a:pt x="80934" y="44192"/>
                  </a:lnTo>
                  <a:lnTo>
                    <a:pt x="80934" y="41343"/>
                  </a:lnTo>
                  <a:lnTo>
                    <a:pt x="63403" y="41489"/>
                  </a:lnTo>
                  <a:lnTo>
                    <a:pt x="63330" y="43608"/>
                  </a:lnTo>
                  <a:lnTo>
                    <a:pt x="63184" y="45653"/>
                  </a:lnTo>
                  <a:lnTo>
                    <a:pt x="62965" y="47771"/>
                  </a:lnTo>
                  <a:lnTo>
                    <a:pt x="62746" y="49889"/>
                  </a:lnTo>
                  <a:lnTo>
                    <a:pt x="62527" y="51935"/>
                  </a:lnTo>
                  <a:lnTo>
                    <a:pt x="62162" y="53907"/>
                  </a:lnTo>
                  <a:lnTo>
                    <a:pt x="61796" y="55952"/>
                  </a:lnTo>
                  <a:lnTo>
                    <a:pt x="61358" y="57851"/>
                  </a:lnTo>
                  <a:lnTo>
                    <a:pt x="41709" y="38056"/>
                  </a:lnTo>
                  <a:lnTo>
                    <a:pt x="38349" y="34623"/>
                  </a:lnTo>
                  <a:lnTo>
                    <a:pt x="35573" y="31482"/>
                  </a:lnTo>
                  <a:lnTo>
                    <a:pt x="34332" y="30094"/>
                  </a:lnTo>
                  <a:lnTo>
                    <a:pt x="33236" y="28706"/>
                  </a:lnTo>
                  <a:lnTo>
                    <a:pt x="32286" y="27465"/>
                  </a:lnTo>
                  <a:lnTo>
                    <a:pt x="31483" y="26223"/>
                  </a:lnTo>
                  <a:lnTo>
                    <a:pt x="30752" y="25054"/>
                  </a:lnTo>
                  <a:lnTo>
                    <a:pt x="30168" y="23886"/>
                  </a:lnTo>
                  <a:lnTo>
                    <a:pt x="29657" y="22790"/>
                  </a:lnTo>
                  <a:lnTo>
                    <a:pt x="29291" y="21694"/>
                  </a:lnTo>
                  <a:lnTo>
                    <a:pt x="28926" y="20599"/>
                  </a:lnTo>
                  <a:lnTo>
                    <a:pt x="28707" y="19503"/>
                  </a:lnTo>
                  <a:lnTo>
                    <a:pt x="28634" y="18407"/>
                  </a:lnTo>
                  <a:lnTo>
                    <a:pt x="28561" y="17312"/>
                  </a:lnTo>
                  <a:lnTo>
                    <a:pt x="28634" y="16289"/>
                  </a:lnTo>
                  <a:lnTo>
                    <a:pt x="28707" y="15266"/>
                  </a:lnTo>
                  <a:lnTo>
                    <a:pt x="28926" y="14317"/>
                  </a:lnTo>
                  <a:lnTo>
                    <a:pt x="29218" y="13440"/>
                  </a:lnTo>
                  <a:lnTo>
                    <a:pt x="29511" y="12637"/>
                  </a:lnTo>
                  <a:lnTo>
                    <a:pt x="29949" y="11833"/>
                  </a:lnTo>
                  <a:lnTo>
                    <a:pt x="30387" y="11176"/>
                  </a:lnTo>
                  <a:lnTo>
                    <a:pt x="30972" y="10518"/>
                  </a:lnTo>
                  <a:lnTo>
                    <a:pt x="31556" y="9934"/>
                  </a:lnTo>
                  <a:lnTo>
                    <a:pt x="32213" y="9423"/>
                  </a:lnTo>
                  <a:lnTo>
                    <a:pt x="32944" y="8984"/>
                  </a:lnTo>
                  <a:lnTo>
                    <a:pt x="33747" y="8619"/>
                  </a:lnTo>
                  <a:lnTo>
                    <a:pt x="34624" y="8327"/>
                  </a:lnTo>
                  <a:lnTo>
                    <a:pt x="35500" y="8108"/>
                  </a:lnTo>
                  <a:lnTo>
                    <a:pt x="36450" y="8035"/>
                  </a:lnTo>
                  <a:lnTo>
                    <a:pt x="37472" y="7962"/>
                  </a:lnTo>
                  <a:lnTo>
                    <a:pt x="38203" y="7962"/>
                  </a:lnTo>
                  <a:lnTo>
                    <a:pt x="38860" y="8035"/>
                  </a:lnTo>
                  <a:lnTo>
                    <a:pt x="39518" y="8181"/>
                  </a:lnTo>
                  <a:lnTo>
                    <a:pt x="40175" y="8327"/>
                  </a:lnTo>
                  <a:lnTo>
                    <a:pt x="40759" y="8546"/>
                  </a:lnTo>
                  <a:lnTo>
                    <a:pt x="41344" y="8765"/>
                  </a:lnTo>
                  <a:lnTo>
                    <a:pt x="41855" y="9058"/>
                  </a:lnTo>
                  <a:lnTo>
                    <a:pt x="42439" y="9350"/>
                  </a:lnTo>
                  <a:lnTo>
                    <a:pt x="43389" y="10153"/>
                  </a:lnTo>
                  <a:lnTo>
                    <a:pt x="44339" y="11030"/>
                  </a:lnTo>
                  <a:lnTo>
                    <a:pt x="45142" y="12052"/>
                  </a:lnTo>
                  <a:lnTo>
                    <a:pt x="45873" y="13221"/>
                  </a:lnTo>
                  <a:lnTo>
                    <a:pt x="46530" y="14463"/>
                  </a:lnTo>
                  <a:lnTo>
                    <a:pt x="47041" y="15851"/>
                  </a:lnTo>
                  <a:lnTo>
                    <a:pt x="47480" y="17312"/>
                  </a:lnTo>
                  <a:lnTo>
                    <a:pt x="47918" y="18845"/>
                  </a:lnTo>
                  <a:lnTo>
                    <a:pt x="48210" y="20452"/>
                  </a:lnTo>
                  <a:lnTo>
                    <a:pt x="48429" y="22206"/>
                  </a:lnTo>
                  <a:lnTo>
                    <a:pt x="48575" y="23959"/>
                  </a:lnTo>
                  <a:lnTo>
                    <a:pt x="48575" y="25785"/>
                  </a:lnTo>
                  <a:lnTo>
                    <a:pt x="65010" y="25785"/>
                  </a:lnTo>
                  <a:lnTo>
                    <a:pt x="64864" y="24324"/>
                  </a:lnTo>
                  <a:lnTo>
                    <a:pt x="64645" y="22936"/>
                  </a:lnTo>
                  <a:lnTo>
                    <a:pt x="64426" y="21548"/>
                  </a:lnTo>
                  <a:lnTo>
                    <a:pt x="64134" y="20233"/>
                  </a:lnTo>
                  <a:lnTo>
                    <a:pt x="63768" y="18919"/>
                  </a:lnTo>
                  <a:lnTo>
                    <a:pt x="63403" y="17604"/>
                  </a:lnTo>
                  <a:lnTo>
                    <a:pt x="62965" y="16362"/>
                  </a:lnTo>
                  <a:lnTo>
                    <a:pt x="62454" y="15193"/>
                  </a:lnTo>
                  <a:lnTo>
                    <a:pt x="61869" y="14025"/>
                  </a:lnTo>
                  <a:lnTo>
                    <a:pt x="61285" y="12929"/>
                  </a:lnTo>
                  <a:lnTo>
                    <a:pt x="60701" y="11833"/>
                  </a:lnTo>
                  <a:lnTo>
                    <a:pt x="60043" y="10811"/>
                  </a:lnTo>
                  <a:lnTo>
                    <a:pt x="59313" y="9788"/>
                  </a:lnTo>
                  <a:lnTo>
                    <a:pt x="58509" y="8838"/>
                  </a:lnTo>
                  <a:lnTo>
                    <a:pt x="57706" y="7889"/>
                  </a:lnTo>
                  <a:lnTo>
                    <a:pt x="56829" y="7085"/>
                  </a:lnTo>
                  <a:lnTo>
                    <a:pt x="55953" y="6209"/>
                  </a:lnTo>
                  <a:lnTo>
                    <a:pt x="55003" y="5478"/>
                  </a:lnTo>
                  <a:lnTo>
                    <a:pt x="54054" y="4748"/>
                  </a:lnTo>
                  <a:lnTo>
                    <a:pt x="53031" y="4017"/>
                  </a:lnTo>
                  <a:lnTo>
                    <a:pt x="51935" y="3433"/>
                  </a:lnTo>
                  <a:lnTo>
                    <a:pt x="50840" y="2849"/>
                  </a:lnTo>
                  <a:lnTo>
                    <a:pt x="49671" y="2337"/>
                  </a:lnTo>
                  <a:lnTo>
                    <a:pt x="48502" y="1826"/>
                  </a:lnTo>
                  <a:lnTo>
                    <a:pt x="47333" y="1388"/>
                  </a:lnTo>
                  <a:lnTo>
                    <a:pt x="46019" y="1023"/>
                  </a:lnTo>
                  <a:lnTo>
                    <a:pt x="44777" y="730"/>
                  </a:lnTo>
                  <a:lnTo>
                    <a:pt x="43389" y="438"/>
                  </a:lnTo>
                  <a:lnTo>
                    <a:pt x="42001" y="292"/>
                  </a:lnTo>
                  <a:lnTo>
                    <a:pt x="40613" y="146"/>
                  </a:lnTo>
                  <a:lnTo>
                    <a:pt x="39152" y="0"/>
                  </a:lnTo>
                  <a:close/>
                </a:path>
              </a:pathLst>
            </a:custGeom>
            <a:solidFill>
              <a:srgbClr val="69003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orient="horz" pos="2952">
          <p15:clr>
            <a:srgbClr val="E46962"/>
          </p15:clr>
        </p15:guide>
        <p15:guide id="5" pos="2952">
          <p15:clr>
            <a:srgbClr val="E46962"/>
          </p15:clr>
        </p15:guide>
        <p15:guide id="6" pos="2808">
          <p15:clr>
            <a:srgbClr val="E46962"/>
          </p15:clr>
        </p15:guide>
        <p15:guide id="7" pos="1620">
          <p15:clr>
            <a:srgbClr val="E46962"/>
          </p15:clr>
        </p15:guide>
        <p15:guide id="8" pos="1476">
          <p15:clr>
            <a:srgbClr val="E46962"/>
          </p15:clr>
        </p15:guide>
        <p15:guide id="9" pos="4284">
          <p15:clr>
            <a:srgbClr val="E46962"/>
          </p15:clr>
        </p15:guide>
        <p15:guide id="10" pos="4140">
          <p15:clr>
            <a:srgbClr val="E46962"/>
          </p15:clr>
        </p15:guide>
        <p15:guide id="11" orient="horz" pos="1548">
          <p15:clr>
            <a:srgbClr val="E46962"/>
          </p15:clr>
        </p15:guide>
        <p15:guide id="12" orient="horz" pos="1692">
          <p15:clr>
            <a:srgbClr val="E46962"/>
          </p15:clr>
        </p15:guide>
        <p15:guide id="13" orient="horz" pos="846">
          <p15:clr>
            <a:srgbClr val="E46962"/>
          </p15:clr>
        </p15:guide>
        <p15:guide id="14" orient="horz" pos="990">
          <p15:clr>
            <a:srgbClr val="E46962"/>
          </p15:clr>
        </p15:guide>
        <p15:guide id="15" orient="horz" pos="2250">
          <p15:clr>
            <a:srgbClr val="E46962"/>
          </p15:clr>
        </p15:guide>
        <p15:guide id="16" orient="horz" pos="239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 sz="1400"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 sz="1400"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 sz="1400"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 sz="1400"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 sz="1400"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 sz="1400"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 sz="1400"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 sz="1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5A5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36" name="Google Shape;1236;p38"/>
          <p:cNvGrpSpPr/>
          <p:nvPr/>
        </p:nvGrpSpPr>
        <p:grpSpPr>
          <a:xfrm rot="5400000">
            <a:off x="3831673" y="59570"/>
            <a:ext cx="7628096" cy="5458082"/>
            <a:chOff x="238125" y="301500"/>
            <a:chExt cx="7143750" cy="5112000"/>
          </a:xfrm>
        </p:grpSpPr>
        <p:sp>
          <p:nvSpPr>
            <p:cNvPr id="1237" name="Google Shape;1237;p38"/>
            <p:cNvSpPr/>
            <p:nvPr/>
          </p:nvSpPr>
          <p:spPr>
            <a:xfrm>
              <a:off x="3909550" y="824200"/>
              <a:ext cx="3472325" cy="4066600"/>
            </a:xfrm>
            <a:custGeom>
              <a:rect b="b" l="l" r="r" t="t"/>
              <a:pathLst>
                <a:path extrusionOk="0" h="162664" w="138893">
                  <a:moveTo>
                    <a:pt x="57499" y="0"/>
                  </a:moveTo>
                  <a:lnTo>
                    <a:pt x="53392" y="125"/>
                  </a:lnTo>
                  <a:lnTo>
                    <a:pt x="49285" y="374"/>
                  </a:lnTo>
                  <a:lnTo>
                    <a:pt x="45178" y="872"/>
                  </a:lnTo>
                  <a:lnTo>
                    <a:pt x="41195" y="1618"/>
                  </a:lnTo>
                  <a:lnTo>
                    <a:pt x="37213" y="2490"/>
                  </a:lnTo>
                  <a:lnTo>
                    <a:pt x="33355" y="3610"/>
                  </a:lnTo>
                  <a:lnTo>
                    <a:pt x="29621" y="4854"/>
                  </a:lnTo>
                  <a:lnTo>
                    <a:pt x="25887" y="6348"/>
                  </a:lnTo>
                  <a:lnTo>
                    <a:pt x="22278" y="7966"/>
                  </a:lnTo>
                  <a:lnTo>
                    <a:pt x="18793" y="9832"/>
                  </a:lnTo>
                  <a:lnTo>
                    <a:pt x="15433" y="11699"/>
                  </a:lnTo>
                  <a:lnTo>
                    <a:pt x="12073" y="13815"/>
                  </a:lnTo>
                  <a:lnTo>
                    <a:pt x="8837" y="16180"/>
                  </a:lnTo>
                  <a:lnTo>
                    <a:pt x="5850" y="18544"/>
                  </a:lnTo>
                  <a:lnTo>
                    <a:pt x="2863" y="21158"/>
                  </a:lnTo>
                  <a:lnTo>
                    <a:pt x="1" y="23771"/>
                  </a:lnTo>
                  <a:lnTo>
                    <a:pt x="57499" y="81270"/>
                  </a:lnTo>
                  <a:lnTo>
                    <a:pt x="1" y="138768"/>
                  </a:lnTo>
                  <a:lnTo>
                    <a:pt x="2863" y="141506"/>
                  </a:lnTo>
                  <a:lnTo>
                    <a:pt x="5850" y="144120"/>
                  </a:lnTo>
                  <a:lnTo>
                    <a:pt x="8837" y="146484"/>
                  </a:lnTo>
                  <a:lnTo>
                    <a:pt x="12073" y="148725"/>
                  </a:lnTo>
                  <a:lnTo>
                    <a:pt x="15433" y="150840"/>
                  </a:lnTo>
                  <a:lnTo>
                    <a:pt x="18793" y="152832"/>
                  </a:lnTo>
                  <a:lnTo>
                    <a:pt x="22278" y="154574"/>
                  </a:lnTo>
                  <a:lnTo>
                    <a:pt x="25887" y="156316"/>
                  </a:lnTo>
                  <a:lnTo>
                    <a:pt x="29621" y="157685"/>
                  </a:lnTo>
                  <a:lnTo>
                    <a:pt x="33355" y="159054"/>
                  </a:lnTo>
                  <a:lnTo>
                    <a:pt x="37213" y="160050"/>
                  </a:lnTo>
                  <a:lnTo>
                    <a:pt x="41195" y="161046"/>
                  </a:lnTo>
                  <a:lnTo>
                    <a:pt x="45178" y="161668"/>
                  </a:lnTo>
                  <a:lnTo>
                    <a:pt x="49285" y="162290"/>
                  </a:lnTo>
                  <a:lnTo>
                    <a:pt x="53392" y="162539"/>
                  </a:lnTo>
                  <a:lnTo>
                    <a:pt x="57499" y="162664"/>
                  </a:lnTo>
                  <a:lnTo>
                    <a:pt x="61731" y="162539"/>
                  </a:lnTo>
                  <a:lnTo>
                    <a:pt x="65838" y="162290"/>
                  </a:lnTo>
                  <a:lnTo>
                    <a:pt x="69945" y="161668"/>
                  </a:lnTo>
                  <a:lnTo>
                    <a:pt x="73927" y="161046"/>
                  </a:lnTo>
                  <a:lnTo>
                    <a:pt x="77910" y="160050"/>
                  </a:lnTo>
                  <a:lnTo>
                    <a:pt x="81768" y="159054"/>
                  </a:lnTo>
                  <a:lnTo>
                    <a:pt x="85502" y="157685"/>
                  </a:lnTo>
                  <a:lnTo>
                    <a:pt x="89235" y="156316"/>
                  </a:lnTo>
                  <a:lnTo>
                    <a:pt x="92844" y="154574"/>
                  </a:lnTo>
                  <a:lnTo>
                    <a:pt x="96329" y="152832"/>
                  </a:lnTo>
                  <a:lnTo>
                    <a:pt x="99690" y="150840"/>
                  </a:lnTo>
                  <a:lnTo>
                    <a:pt x="103050" y="148725"/>
                  </a:lnTo>
                  <a:lnTo>
                    <a:pt x="106161" y="146484"/>
                  </a:lnTo>
                  <a:lnTo>
                    <a:pt x="109273" y="144120"/>
                  </a:lnTo>
                  <a:lnTo>
                    <a:pt x="112260" y="141506"/>
                  </a:lnTo>
                  <a:lnTo>
                    <a:pt x="115122" y="138768"/>
                  </a:lnTo>
                  <a:lnTo>
                    <a:pt x="117736" y="136030"/>
                  </a:lnTo>
                  <a:lnTo>
                    <a:pt x="120349" y="133043"/>
                  </a:lnTo>
                  <a:lnTo>
                    <a:pt x="122714" y="129932"/>
                  </a:lnTo>
                  <a:lnTo>
                    <a:pt x="124954" y="126820"/>
                  </a:lnTo>
                  <a:lnTo>
                    <a:pt x="127070" y="123460"/>
                  </a:lnTo>
                  <a:lnTo>
                    <a:pt x="129061" y="120100"/>
                  </a:lnTo>
                  <a:lnTo>
                    <a:pt x="130928" y="116615"/>
                  </a:lnTo>
                  <a:lnTo>
                    <a:pt x="132546" y="113006"/>
                  </a:lnTo>
                  <a:lnTo>
                    <a:pt x="133915" y="109272"/>
                  </a:lnTo>
                  <a:lnTo>
                    <a:pt x="135284" y="105539"/>
                  </a:lnTo>
                  <a:lnTo>
                    <a:pt x="136279" y="101680"/>
                  </a:lnTo>
                  <a:lnTo>
                    <a:pt x="137275" y="97698"/>
                  </a:lnTo>
                  <a:lnTo>
                    <a:pt x="137897" y="93715"/>
                  </a:lnTo>
                  <a:lnTo>
                    <a:pt x="138520" y="89608"/>
                  </a:lnTo>
                  <a:lnTo>
                    <a:pt x="138769" y="85501"/>
                  </a:lnTo>
                  <a:lnTo>
                    <a:pt x="138893" y="81270"/>
                  </a:lnTo>
                  <a:lnTo>
                    <a:pt x="138769" y="77163"/>
                  </a:lnTo>
                  <a:lnTo>
                    <a:pt x="138520" y="73056"/>
                  </a:lnTo>
                  <a:lnTo>
                    <a:pt x="137897" y="68949"/>
                  </a:lnTo>
                  <a:lnTo>
                    <a:pt x="137275" y="64966"/>
                  </a:lnTo>
                  <a:lnTo>
                    <a:pt x="136279" y="60984"/>
                  </a:lnTo>
                  <a:lnTo>
                    <a:pt x="135284" y="57125"/>
                  </a:lnTo>
                  <a:lnTo>
                    <a:pt x="133915" y="53392"/>
                  </a:lnTo>
                  <a:lnTo>
                    <a:pt x="132546" y="49658"/>
                  </a:lnTo>
                  <a:lnTo>
                    <a:pt x="130928" y="46049"/>
                  </a:lnTo>
                  <a:lnTo>
                    <a:pt x="129061" y="42564"/>
                  </a:lnTo>
                  <a:lnTo>
                    <a:pt x="127070" y="39079"/>
                  </a:lnTo>
                  <a:lnTo>
                    <a:pt x="124954" y="35844"/>
                  </a:lnTo>
                  <a:lnTo>
                    <a:pt x="122714" y="32608"/>
                  </a:lnTo>
                  <a:lnTo>
                    <a:pt x="120349" y="29621"/>
                  </a:lnTo>
                  <a:lnTo>
                    <a:pt x="117736" y="26634"/>
                  </a:lnTo>
                  <a:lnTo>
                    <a:pt x="115122" y="23771"/>
                  </a:lnTo>
                  <a:lnTo>
                    <a:pt x="112260" y="21158"/>
                  </a:lnTo>
                  <a:lnTo>
                    <a:pt x="109273" y="18544"/>
                  </a:lnTo>
                  <a:lnTo>
                    <a:pt x="106161" y="16180"/>
                  </a:lnTo>
                  <a:lnTo>
                    <a:pt x="103050" y="13815"/>
                  </a:lnTo>
                  <a:lnTo>
                    <a:pt x="99690" y="11699"/>
                  </a:lnTo>
                  <a:lnTo>
                    <a:pt x="96329" y="9832"/>
                  </a:lnTo>
                  <a:lnTo>
                    <a:pt x="92844" y="7966"/>
                  </a:lnTo>
                  <a:lnTo>
                    <a:pt x="89235" y="6348"/>
                  </a:lnTo>
                  <a:lnTo>
                    <a:pt x="85502" y="4854"/>
                  </a:lnTo>
                  <a:lnTo>
                    <a:pt x="81768" y="3610"/>
                  </a:lnTo>
                  <a:lnTo>
                    <a:pt x="77910" y="2490"/>
                  </a:lnTo>
                  <a:lnTo>
                    <a:pt x="73927" y="1618"/>
                  </a:lnTo>
                  <a:lnTo>
                    <a:pt x="69945" y="872"/>
                  </a:lnTo>
                  <a:lnTo>
                    <a:pt x="65838" y="374"/>
                  </a:lnTo>
                  <a:lnTo>
                    <a:pt x="61731" y="125"/>
                  </a:lnTo>
                  <a:lnTo>
                    <a:pt x="57499" y="0"/>
                  </a:lnTo>
                  <a:close/>
                </a:path>
              </a:pathLst>
            </a:custGeom>
            <a:solidFill>
              <a:srgbClr val="000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8"/>
            <p:cNvSpPr/>
            <p:nvPr/>
          </p:nvSpPr>
          <p:spPr>
            <a:xfrm>
              <a:off x="3909550" y="824200"/>
              <a:ext cx="3472325" cy="4066600"/>
            </a:xfrm>
            <a:custGeom>
              <a:rect b="b" l="l" r="r" t="t"/>
              <a:pathLst>
                <a:path extrusionOk="0" fill="none" h="162664" w="138893">
                  <a:moveTo>
                    <a:pt x="1" y="23771"/>
                  </a:moveTo>
                  <a:lnTo>
                    <a:pt x="57499" y="81270"/>
                  </a:lnTo>
                  <a:lnTo>
                    <a:pt x="1" y="138768"/>
                  </a:lnTo>
                  <a:lnTo>
                    <a:pt x="1" y="138768"/>
                  </a:lnTo>
                  <a:lnTo>
                    <a:pt x="2863" y="141506"/>
                  </a:lnTo>
                  <a:lnTo>
                    <a:pt x="5850" y="144120"/>
                  </a:lnTo>
                  <a:lnTo>
                    <a:pt x="8837" y="146484"/>
                  </a:lnTo>
                  <a:lnTo>
                    <a:pt x="12073" y="148725"/>
                  </a:lnTo>
                  <a:lnTo>
                    <a:pt x="15433" y="150840"/>
                  </a:lnTo>
                  <a:lnTo>
                    <a:pt x="18793" y="152832"/>
                  </a:lnTo>
                  <a:lnTo>
                    <a:pt x="22278" y="154574"/>
                  </a:lnTo>
                  <a:lnTo>
                    <a:pt x="25887" y="156316"/>
                  </a:lnTo>
                  <a:lnTo>
                    <a:pt x="29621" y="157685"/>
                  </a:lnTo>
                  <a:lnTo>
                    <a:pt x="33355" y="159054"/>
                  </a:lnTo>
                  <a:lnTo>
                    <a:pt x="37213" y="160050"/>
                  </a:lnTo>
                  <a:lnTo>
                    <a:pt x="41195" y="161046"/>
                  </a:lnTo>
                  <a:lnTo>
                    <a:pt x="45178" y="161668"/>
                  </a:lnTo>
                  <a:lnTo>
                    <a:pt x="49285" y="162290"/>
                  </a:lnTo>
                  <a:lnTo>
                    <a:pt x="53392" y="162539"/>
                  </a:lnTo>
                  <a:lnTo>
                    <a:pt x="57499" y="162664"/>
                  </a:lnTo>
                  <a:lnTo>
                    <a:pt x="57499" y="162664"/>
                  </a:lnTo>
                  <a:lnTo>
                    <a:pt x="61731" y="162539"/>
                  </a:lnTo>
                  <a:lnTo>
                    <a:pt x="65838" y="162290"/>
                  </a:lnTo>
                  <a:lnTo>
                    <a:pt x="69945" y="161668"/>
                  </a:lnTo>
                  <a:lnTo>
                    <a:pt x="73927" y="161046"/>
                  </a:lnTo>
                  <a:lnTo>
                    <a:pt x="77910" y="160050"/>
                  </a:lnTo>
                  <a:lnTo>
                    <a:pt x="81768" y="159054"/>
                  </a:lnTo>
                  <a:lnTo>
                    <a:pt x="85502" y="157685"/>
                  </a:lnTo>
                  <a:lnTo>
                    <a:pt x="89235" y="156316"/>
                  </a:lnTo>
                  <a:lnTo>
                    <a:pt x="92844" y="154574"/>
                  </a:lnTo>
                  <a:lnTo>
                    <a:pt x="96329" y="152832"/>
                  </a:lnTo>
                  <a:lnTo>
                    <a:pt x="99690" y="150840"/>
                  </a:lnTo>
                  <a:lnTo>
                    <a:pt x="103050" y="148725"/>
                  </a:lnTo>
                  <a:lnTo>
                    <a:pt x="106161" y="146484"/>
                  </a:lnTo>
                  <a:lnTo>
                    <a:pt x="109273" y="144120"/>
                  </a:lnTo>
                  <a:lnTo>
                    <a:pt x="112260" y="141506"/>
                  </a:lnTo>
                  <a:lnTo>
                    <a:pt x="115122" y="138768"/>
                  </a:lnTo>
                  <a:lnTo>
                    <a:pt x="117736" y="136030"/>
                  </a:lnTo>
                  <a:lnTo>
                    <a:pt x="120349" y="133043"/>
                  </a:lnTo>
                  <a:lnTo>
                    <a:pt x="122714" y="129932"/>
                  </a:lnTo>
                  <a:lnTo>
                    <a:pt x="124954" y="126820"/>
                  </a:lnTo>
                  <a:lnTo>
                    <a:pt x="127070" y="123460"/>
                  </a:lnTo>
                  <a:lnTo>
                    <a:pt x="129061" y="120100"/>
                  </a:lnTo>
                  <a:lnTo>
                    <a:pt x="130928" y="116615"/>
                  </a:lnTo>
                  <a:lnTo>
                    <a:pt x="132546" y="113006"/>
                  </a:lnTo>
                  <a:lnTo>
                    <a:pt x="133915" y="109272"/>
                  </a:lnTo>
                  <a:lnTo>
                    <a:pt x="135284" y="105539"/>
                  </a:lnTo>
                  <a:lnTo>
                    <a:pt x="136279" y="101680"/>
                  </a:lnTo>
                  <a:lnTo>
                    <a:pt x="137275" y="97698"/>
                  </a:lnTo>
                  <a:lnTo>
                    <a:pt x="137897" y="93715"/>
                  </a:lnTo>
                  <a:lnTo>
                    <a:pt x="138520" y="89608"/>
                  </a:lnTo>
                  <a:lnTo>
                    <a:pt x="138769" y="85501"/>
                  </a:lnTo>
                  <a:lnTo>
                    <a:pt x="138893" y="81270"/>
                  </a:lnTo>
                  <a:lnTo>
                    <a:pt x="138893" y="81270"/>
                  </a:lnTo>
                  <a:lnTo>
                    <a:pt x="138769" y="77163"/>
                  </a:lnTo>
                  <a:lnTo>
                    <a:pt x="138520" y="73056"/>
                  </a:lnTo>
                  <a:lnTo>
                    <a:pt x="137897" y="68949"/>
                  </a:lnTo>
                  <a:lnTo>
                    <a:pt x="137275" y="64966"/>
                  </a:lnTo>
                  <a:lnTo>
                    <a:pt x="136279" y="60984"/>
                  </a:lnTo>
                  <a:lnTo>
                    <a:pt x="135284" y="57125"/>
                  </a:lnTo>
                  <a:lnTo>
                    <a:pt x="133915" y="53392"/>
                  </a:lnTo>
                  <a:lnTo>
                    <a:pt x="132546" y="49658"/>
                  </a:lnTo>
                  <a:lnTo>
                    <a:pt x="130928" y="46049"/>
                  </a:lnTo>
                  <a:lnTo>
                    <a:pt x="129061" y="42564"/>
                  </a:lnTo>
                  <a:lnTo>
                    <a:pt x="127070" y="39079"/>
                  </a:lnTo>
                  <a:lnTo>
                    <a:pt x="124954" y="35844"/>
                  </a:lnTo>
                  <a:lnTo>
                    <a:pt x="122714" y="32608"/>
                  </a:lnTo>
                  <a:lnTo>
                    <a:pt x="120349" y="29621"/>
                  </a:lnTo>
                  <a:lnTo>
                    <a:pt x="117736" y="26634"/>
                  </a:lnTo>
                  <a:lnTo>
                    <a:pt x="115122" y="23771"/>
                  </a:lnTo>
                  <a:lnTo>
                    <a:pt x="112260" y="21158"/>
                  </a:lnTo>
                  <a:lnTo>
                    <a:pt x="109273" y="18544"/>
                  </a:lnTo>
                  <a:lnTo>
                    <a:pt x="106161" y="16180"/>
                  </a:lnTo>
                  <a:lnTo>
                    <a:pt x="103050" y="13815"/>
                  </a:lnTo>
                  <a:lnTo>
                    <a:pt x="99690" y="11699"/>
                  </a:lnTo>
                  <a:lnTo>
                    <a:pt x="96329" y="9832"/>
                  </a:lnTo>
                  <a:lnTo>
                    <a:pt x="92844" y="7966"/>
                  </a:lnTo>
                  <a:lnTo>
                    <a:pt x="89235" y="6348"/>
                  </a:lnTo>
                  <a:lnTo>
                    <a:pt x="85502" y="4854"/>
                  </a:lnTo>
                  <a:lnTo>
                    <a:pt x="81768" y="3610"/>
                  </a:lnTo>
                  <a:lnTo>
                    <a:pt x="77910" y="2490"/>
                  </a:lnTo>
                  <a:lnTo>
                    <a:pt x="73927" y="1618"/>
                  </a:lnTo>
                  <a:lnTo>
                    <a:pt x="69945" y="872"/>
                  </a:lnTo>
                  <a:lnTo>
                    <a:pt x="65838" y="374"/>
                  </a:lnTo>
                  <a:lnTo>
                    <a:pt x="61731" y="125"/>
                  </a:lnTo>
                  <a:lnTo>
                    <a:pt x="57499" y="0"/>
                  </a:lnTo>
                  <a:lnTo>
                    <a:pt x="57499" y="0"/>
                  </a:lnTo>
                  <a:lnTo>
                    <a:pt x="53392" y="125"/>
                  </a:lnTo>
                  <a:lnTo>
                    <a:pt x="49285" y="374"/>
                  </a:lnTo>
                  <a:lnTo>
                    <a:pt x="45178" y="872"/>
                  </a:lnTo>
                  <a:lnTo>
                    <a:pt x="41195" y="1618"/>
                  </a:lnTo>
                  <a:lnTo>
                    <a:pt x="37213" y="2490"/>
                  </a:lnTo>
                  <a:lnTo>
                    <a:pt x="33355" y="3610"/>
                  </a:lnTo>
                  <a:lnTo>
                    <a:pt x="29621" y="4854"/>
                  </a:lnTo>
                  <a:lnTo>
                    <a:pt x="25887" y="6348"/>
                  </a:lnTo>
                  <a:lnTo>
                    <a:pt x="22278" y="7966"/>
                  </a:lnTo>
                  <a:lnTo>
                    <a:pt x="18793" y="9832"/>
                  </a:lnTo>
                  <a:lnTo>
                    <a:pt x="15433" y="11699"/>
                  </a:lnTo>
                  <a:lnTo>
                    <a:pt x="12073" y="13815"/>
                  </a:lnTo>
                  <a:lnTo>
                    <a:pt x="8837" y="16180"/>
                  </a:lnTo>
                  <a:lnTo>
                    <a:pt x="5850" y="18544"/>
                  </a:lnTo>
                  <a:lnTo>
                    <a:pt x="2863" y="21158"/>
                  </a:lnTo>
                  <a:lnTo>
                    <a:pt x="1" y="2377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8"/>
            <p:cNvSpPr/>
            <p:nvPr/>
          </p:nvSpPr>
          <p:spPr>
            <a:xfrm>
              <a:off x="238125" y="301500"/>
              <a:ext cx="3671450" cy="5112000"/>
            </a:xfrm>
            <a:custGeom>
              <a:rect b="b" l="l" r="r" t="t"/>
              <a:pathLst>
                <a:path extrusionOk="0" h="204480" w="146858">
                  <a:moveTo>
                    <a:pt x="102178" y="0"/>
                  </a:moveTo>
                  <a:lnTo>
                    <a:pt x="0" y="102178"/>
                  </a:lnTo>
                  <a:lnTo>
                    <a:pt x="102178" y="204480"/>
                  </a:lnTo>
                  <a:lnTo>
                    <a:pt x="146858" y="159676"/>
                  </a:lnTo>
                  <a:lnTo>
                    <a:pt x="144244" y="156938"/>
                  </a:lnTo>
                  <a:lnTo>
                    <a:pt x="141630" y="153951"/>
                  </a:lnTo>
                  <a:lnTo>
                    <a:pt x="139266" y="150840"/>
                  </a:lnTo>
                  <a:lnTo>
                    <a:pt x="136901" y="147728"/>
                  </a:lnTo>
                  <a:lnTo>
                    <a:pt x="134785" y="144368"/>
                  </a:lnTo>
                  <a:lnTo>
                    <a:pt x="132919" y="141008"/>
                  </a:lnTo>
                  <a:lnTo>
                    <a:pt x="131052" y="137523"/>
                  </a:lnTo>
                  <a:lnTo>
                    <a:pt x="129434" y="133914"/>
                  </a:lnTo>
                  <a:lnTo>
                    <a:pt x="128065" y="130180"/>
                  </a:lnTo>
                  <a:lnTo>
                    <a:pt x="126696" y="126447"/>
                  </a:lnTo>
                  <a:lnTo>
                    <a:pt x="125576" y="122588"/>
                  </a:lnTo>
                  <a:lnTo>
                    <a:pt x="124704" y="118606"/>
                  </a:lnTo>
                  <a:lnTo>
                    <a:pt x="123958" y="114623"/>
                  </a:lnTo>
                  <a:lnTo>
                    <a:pt x="123460" y="110516"/>
                  </a:lnTo>
                  <a:lnTo>
                    <a:pt x="123211" y="106409"/>
                  </a:lnTo>
                  <a:lnTo>
                    <a:pt x="123087" y="102178"/>
                  </a:lnTo>
                  <a:lnTo>
                    <a:pt x="123211" y="98071"/>
                  </a:lnTo>
                  <a:lnTo>
                    <a:pt x="123460" y="93964"/>
                  </a:lnTo>
                  <a:lnTo>
                    <a:pt x="123958" y="89857"/>
                  </a:lnTo>
                  <a:lnTo>
                    <a:pt x="124704" y="85874"/>
                  </a:lnTo>
                  <a:lnTo>
                    <a:pt x="125576" y="81892"/>
                  </a:lnTo>
                  <a:lnTo>
                    <a:pt x="126696" y="78033"/>
                  </a:lnTo>
                  <a:lnTo>
                    <a:pt x="128065" y="74300"/>
                  </a:lnTo>
                  <a:lnTo>
                    <a:pt x="129434" y="70566"/>
                  </a:lnTo>
                  <a:lnTo>
                    <a:pt x="131052" y="66957"/>
                  </a:lnTo>
                  <a:lnTo>
                    <a:pt x="132919" y="63472"/>
                  </a:lnTo>
                  <a:lnTo>
                    <a:pt x="134785" y="59987"/>
                  </a:lnTo>
                  <a:lnTo>
                    <a:pt x="136901" y="56752"/>
                  </a:lnTo>
                  <a:lnTo>
                    <a:pt x="139266" y="53516"/>
                  </a:lnTo>
                  <a:lnTo>
                    <a:pt x="141630" y="50529"/>
                  </a:lnTo>
                  <a:lnTo>
                    <a:pt x="144244" y="47542"/>
                  </a:lnTo>
                  <a:lnTo>
                    <a:pt x="146858" y="44679"/>
                  </a:lnTo>
                  <a:lnTo>
                    <a:pt x="102178" y="0"/>
                  </a:lnTo>
                  <a:close/>
                </a:path>
              </a:pathLst>
            </a:custGeom>
            <a:solidFill>
              <a:srgbClr val="B4DC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0" name="TextBox 1239"/>
          <p:cNvSpPr txBox="1"/>
          <p:nvPr/>
        </p:nvSpPr>
        <p:spPr>
          <a:xfrm>
            <a:off x="411480" y="1417320"/>
            <a:ext cx="3383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CI&amp;T Engineering Presentation</a:t>
            </a:r>
          </a:p>
        </p:txBody>
      </p:sp>
      <p:sp>
        <p:nvSpPr>
          <p:cNvPr id="1241" name="TextBox 1240"/>
          <p:cNvSpPr txBox="1"/>
          <p:nvPr/>
        </p:nvSpPr>
        <p:spPr>
          <a:xfrm>
            <a:off x="411480" y="1783080"/>
            <a:ext cx="3383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0050"/>
                </a:solidFill>
                <a:latin typeface="DM Sans"/>
              </a:defRPr>
            </a:pPr>
            <a:r>
              <a:t>Harness Engineering</a:t>
            </a:r>
          </a:p>
        </p:txBody>
      </p:sp>
      <p:sp>
        <p:nvSpPr>
          <p:cNvPr id="1242" name="Rectangle 1241"/>
          <p:cNvSpPr/>
          <p:nvPr/>
        </p:nvSpPr>
        <p:spPr>
          <a:xfrm>
            <a:off x="411480" y="2468880"/>
            <a:ext cx="201168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TextBox 1242"/>
          <p:cNvSpPr txBox="1"/>
          <p:nvPr/>
        </p:nvSpPr>
        <p:spPr>
          <a:xfrm>
            <a:off x="411480" y="2852928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DM Sans"/>
              </a:defRPr>
            </a:pPr>
            <a:r>
              <a:t>Building Reliable Systems with AI Agents</a:t>
            </a:r>
          </a:p>
        </p:txBody>
      </p:sp>
      <p:sp>
        <p:nvSpPr>
          <p:cNvPr id="1244" name="TextBox 1243"/>
          <p:cNvSpPr txBox="1"/>
          <p:nvPr/>
        </p:nvSpPr>
        <p:spPr>
          <a:xfrm>
            <a:off x="411480" y="345643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749808"/>
            <a:ext cx="8503920" cy="102412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38100" cy="102412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59536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M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841248"/>
            <a:ext cx="6583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M Sans"/>
              </a:defRPr>
            </a:pPr>
            <a:r>
              <a:t>Harness Engineering &amp; AI-SDLC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252728"/>
            <a:ext cx="6583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What it is and how our delivery lifecycle implements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09728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∼25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901952"/>
            <a:ext cx="8503920" cy="102412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38100" cy="102412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M San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993392"/>
            <a:ext cx="6583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M Sans"/>
              </a:defRPr>
            </a:pPr>
            <a:r>
              <a:t>SDD &amp;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404872"/>
            <a:ext cx="6583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Spec-Driven Development explained, then a recorded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249424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∼25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054096"/>
            <a:ext cx="8503920" cy="102412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54096"/>
            <a:ext cx="38100" cy="102412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63824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M San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145536"/>
            <a:ext cx="6583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M Sans"/>
              </a:defRPr>
            </a:pPr>
            <a:r>
              <a:t>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557016"/>
            <a:ext cx="6583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Open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0156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∼10 min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What’s Changed?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The bottleneck is no longer writing code. It’s the quality of the environment the agent operates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1115568"/>
            <a:ext cx="4005072" cy="321868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115568"/>
            <a:ext cx="38100" cy="321868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50"/>
                </a:solidFill>
                <a:latin typeface="DM Sans"/>
              </a:defRPr>
            </a:pPr>
            <a:r>
              <a:t>Without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64592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Ad-hoc prompts, no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9696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139696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Hallucination &amp; drift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633472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No traceability or reproducibility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27248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27248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Quality depends entirely on manual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21024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621024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Scarce human attention wasted on avoidable errors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352544" y="2683764"/>
            <a:ext cx="402336" cy="8229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28032" y="1115568"/>
            <a:ext cx="4005072" cy="321868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1115568"/>
            <a:ext cx="38100" cy="321868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2624" y="1243584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M Sans"/>
              </a:defRPr>
            </a:pPr>
            <a:r>
              <a:t>With a structured SDLC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2624" y="1645920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1645920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Contracts at every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1645920"/>
            <a:ext cx="16276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specs → artefacts →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139696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139696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Mechanical enforcement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2139696"/>
            <a:ext cx="16276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constraints enforced by tools, not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2633472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633472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Deterministic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2633472"/>
            <a:ext cx="16276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same input → same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3127248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127248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Human attention on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3127248"/>
            <a:ext cx="16276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not on catching obvious errors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3621024"/>
            <a:ext cx="201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621024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Corrections are cheap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3621024"/>
            <a:ext cx="16276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waiting is expensive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What is Harness Engineering?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8368"/>
            <a:ext cx="38100" cy="493776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822960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50"/>
                </a:solidFill>
                <a:latin typeface="DM Sans"/>
              </a:defRPr>
            </a:pPr>
            <a:r>
              <a:t>The discipline of designing the scaffolding, contracts, and guardrails that wrap around AI agents to make them reliable at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98448"/>
            <a:ext cx="2706624" cy="221284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706624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426464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50"/>
                </a:solidFill>
                <a:latin typeface="DM San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21579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50"/>
                </a:solidFill>
                <a:latin typeface="DM Sans"/>
              </a:defRPr>
            </a:pPr>
            <a:r>
              <a:t>Scaffolding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47088"/>
            <a:ext cx="2505456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Structure the work so agents succeed.</a:t>
            </a:r>
            <a:br/>
            <a:r>
              <a:t>Steering files, task decomposition, context injection.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6392" y="1298448"/>
            <a:ext cx="2706624" cy="221284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6392" y="1298448"/>
            <a:ext cx="2706624" cy="381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1426464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50"/>
                </a:solidFill>
                <a:latin typeface="DM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444752"/>
            <a:ext cx="21579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50"/>
                </a:solidFill>
                <a:latin typeface="DM Sans"/>
              </a:defRPr>
            </a:pPr>
            <a:r>
              <a:t>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4" y="1847088"/>
            <a:ext cx="2505456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Specs at every level — phase, step, task.</a:t>
            </a:r>
            <a:br/>
            <a:r>
              <a:t>Inputs, outputs, and validation criteria defined upfront.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2744" y="1298448"/>
            <a:ext cx="2706624" cy="221284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52744" y="1298448"/>
            <a:ext cx="2706624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426464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50"/>
                </a:solidFill>
                <a:latin typeface="DM San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1444752"/>
            <a:ext cx="21579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50"/>
                </a:solidFill>
                <a:latin typeface="DM Sans"/>
              </a:defRPr>
            </a:pPr>
            <a:r>
              <a:t>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1847088"/>
            <a:ext cx="2505456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M Sans"/>
              </a:defRPr>
            </a:pPr>
            <a:r>
              <a:t>Automated quality checks in the loop.</a:t>
            </a:r>
            <a:br/>
            <a:r>
              <a:t>Mechanical enforcement, not documentation.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49039"/>
            <a:ext cx="38100" cy="36576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49039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“You stop debugging code. You start debugging the system that produces code.”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Mental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85216"/>
            <a:ext cx="8503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Principles that don’t change — even as tools and practices evolve.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32688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The agent’s fundamental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261872"/>
            <a:ext cx="4160520" cy="138988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1261872"/>
            <a:ext cx="38100" cy="138988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39593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The environment is the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39593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The agent is powerful but directionless without structure. Invest in the harness — the scaffolding, constraints, and feedback loops that make the agent productive.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" y="2779776"/>
            <a:ext cx="4160520" cy="138988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2779776"/>
            <a:ext cx="38100" cy="138988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71216"/>
            <a:ext cx="39593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Agents can’t evaluate their own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82112"/>
            <a:ext cx="39593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They’ll confidently declare things done when they’re not. Use deterministic verification tools and human gates — never rely on agent self-assessment.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932688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Input determines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261872"/>
            <a:ext cx="4160520" cy="138988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261872"/>
            <a:ext cx="38100" cy="138988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1353312"/>
            <a:ext cx="39593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Your output is the agent’s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664208"/>
            <a:ext cx="39593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Every role’s decisions feed the agent directly. Vague requirements → vague output. Incomplete criteria → incomplete tests. The agent multiplies whatever you give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2779776"/>
            <a:ext cx="4160520" cy="138988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45152" y="2779776"/>
            <a:ext cx="38100" cy="138988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871216"/>
            <a:ext cx="39593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If it’s not in the repo, it doesn’t exist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3182112"/>
            <a:ext cx="39593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From the agent’s perspective, knowledge in people’s heads, chat threads, or wiki pages is invisible. The repository must be the single source of truth.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Mental Models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Reliability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969264"/>
            <a:ext cx="4160520" cy="107899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969264"/>
            <a:ext cx="38100" cy="1078992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959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Mechanical enforcement &gt;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35024"/>
            <a:ext cx="395935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If a constraint matters enough to write down, it matters enough to enforce with tooling. Steering files, linters, CI — not wiki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2157984"/>
            <a:ext cx="4160520" cy="107899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2157984"/>
            <a:ext cx="38100" cy="1078992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959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Decompose until reliable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23744"/>
            <a:ext cx="395935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Break tasks down until each unit is within the LLM’s reliable window. Same principle as distributed systems — unreliable components, reliable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" y="3346704"/>
            <a:ext cx="4160520" cy="107899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3346704"/>
            <a:ext cx="38100" cy="1078992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3959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Every harness component is an assumption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12464"/>
            <a:ext cx="395935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Each component encodes a bet on what the model can’t do. As models improve, stress-test those assumptions. Remove what’s no longer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640080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Economics &amp;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5152" y="969264"/>
            <a:ext cx="4160520" cy="107899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5152" y="969264"/>
            <a:ext cx="38100" cy="1078992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1051560"/>
            <a:ext cx="3959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Corrections are cheap, waiting is expensive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1335024"/>
            <a:ext cx="395935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Re-running an agent costs almost nothing. A human waiting for a review cycle costs real time. This changes every engineering tradeoff.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5152" y="2157984"/>
            <a:ext cx="4160520" cy="107899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157984"/>
            <a:ext cx="38100" cy="1078992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9744" y="2240280"/>
            <a:ext cx="3959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Context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2523744"/>
            <a:ext cx="395935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Deliberately manage what the agent sees at each stage. Every token in context competes with the task. Progressive disclosure — less noise, fewer errors.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5A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50"/>
                </a:solidFill>
                <a:latin typeface="DM Sans"/>
              </a:defRPr>
            </a:pPr>
            <a:r>
              <a:t>The process hasn’t fundamentally changed.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61872"/>
            <a:ext cx="8229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DM Sans"/>
              </a:defRPr>
            </a:pPr>
            <a:r>
              <a:t>The mindset has.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75104"/>
            <a:ext cx="18288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7772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50"/>
                </a:solidFill>
                <a:latin typeface="DM Sans"/>
              </a:defRPr>
            </a:pPr>
            <a:r>
              <a:t>So what does this mean for each of us?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1609344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38100" cy="1371600"/>
          </a:xfrm>
          <a:prstGeom prst="rect">
            <a:avLst/>
          </a:prstGeom>
          <a:solidFill>
            <a:srgbClr val="B4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761488"/>
            <a:ext cx="14447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50"/>
                </a:solidFill>
                <a:latin typeface="DM Sans"/>
              </a:defRPr>
            </a:pPr>
            <a:r>
              <a:t>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3127248"/>
            <a:ext cx="1444752" cy="7863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Right scope →</a:t>
            </a:r>
            <a:br/>
            <a:r>
              <a:t>right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5416" y="2651760"/>
            <a:ext cx="1609344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85416" y="2651760"/>
            <a:ext cx="38100" cy="1371600"/>
          </a:xfrm>
          <a:prstGeom prst="rect">
            <a:avLst/>
          </a:prstGeom>
          <a:solidFill>
            <a:srgbClr val="B4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2761488"/>
            <a:ext cx="14447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50"/>
                </a:solidFill>
                <a:latin typeface="DM Sans"/>
              </a:defRPr>
            </a:pPr>
            <a:r>
              <a:t>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3127248"/>
            <a:ext cx="1444752" cy="7863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Right patterns →</a:t>
            </a:r>
            <a:br/>
            <a:r>
              <a:t>right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67912" y="2651760"/>
            <a:ext cx="1609344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67912" y="2651760"/>
            <a:ext cx="38100" cy="1371600"/>
          </a:xfrm>
          <a:prstGeom prst="rect">
            <a:avLst/>
          </a:prstGeom>
          <a:solidFill>
            <a:srgbClr val="B4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2761488"/>
            <a:ext cx="14447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50"/>
                </a:solidFill>
                <a:latin typeface="DM Sans"/>
              </a:defRPr>
            </a:pPr>
            <a:r>
              <a:t>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3127248"/>
            <a:ext cx="1444752" cy="7863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Right decomposition →</a:t>
            </a:r>
            <a:br/>
            <a:r>
              <a:t>right impl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0408" y="2651760"/>
            <a:ext cx="1609344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50408" y="2651760"/>
            <a:ext cx="38100" cy="1371600"/>
          </a:xfrm>
          <a:prstGeom prst="rect">
            <a:avLst/>
          </a:prstGeom>
          <a:solidFill>
            <a:srgbClr val="B4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8424" y="2761488"/>
            <a:ext cx="14447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50"/>
                </a:solidFill>
                <a:latin typeface="DM Sans"/>
              </a:defRPr>
            </a:pPr>
            <a:r>
              <a:t>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78424" y="3127248"/>
            <a:ext cx="1444752" cy="7863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Right criteria →</a:t>
            </a:r>
            <a:br/>
            <a:r>
              <a:t>right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32904" y="2651760"/>
            <a:ext cx="1609344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32904" y="2651760"/>
            <a:ext cx="38100" cy="1371600"/>
          </a:xfrm>
          <a:prstGeom prst="rect">
            <a:avLst/>
          </a:prstGeom>
          <a:solidFill>
            <a:srgbClr val="B4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761488"/>
            <a:ext cx="14447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50"/>
                </a:solidFill>
                <a:latin typeface="DM Sans"/>
              </a:defRPr>
            </a:pPr>
            <a:r>
              <a:t>Designer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127248"/>
            <a:ext cx="1444752" cy="7863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Right UX →</a:t>
            </a:r>
            <a:br/>
            <a:r>
              <a:t>right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24528"/>
            <a:ext cx="8229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50"/>
                </a:solidFill>
                <a:latin typeface="DM Sans"/>
              </a:defRPr>
            </a:pPr>
            <a:r>
              <a:t>The quality of our decisions directly determines the quality of our product.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50"/>
                </a:solidFill>
                <a:latin typeface="DM Sans"/>
              </a:defRPr>
            </a:pPr>
            <a:r>
              <a:t>AI-SDLC: Full Lifecycle</a:t>
            </a:r>
          </a:p>
        </p:txBody>
      </p:sp>
      <p:sp>
        <p:nvSpPr>
          <p:cNvPr id="4" name="Oval 3"/>
          <p:cNvSpPr/>
          <p:nvPr/>
        </p:nvSpPr>
        <p:spPr>
          <a:xfrm>
            <a:off x="6400800" y="155448"/>
            <a:ext cx="88900" cy="889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19672" y="128016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Human</a:t>
            </a:r>
          </a:p>
        </p:txBody>
      </p:sp>
      <p:sp>
        <p:nvSpPr>
          <p:cNvPr id="6" name="Oval 5"/>
          <p:cNvSpPr/>
          <p:nvPr/>
        </p:nvSpPr>
        <p:spPr>
          <a:xfrm>
            <a:off x="7150608" y="155448"/>
            <a:ext cx="88900" cy="88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28016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Agent</a:t>
            </a:r>
          </a:p>
        </p:txBody>
      </p:sp>
      <p:sp>
        <p:nvSpPr>
          <p:cNvPr id="8" name="Oval 7"/>
          <p:cNvSpPr/>
          <p:nvPr/>
        </p:nvSpPr>
        <p:spPr>
          <a:xfrm>
            <a:off x="7900416" y="155448"/>
            <a:ext cx="88900" cy="88900"/>
          </a:xfrm>
          <a:prstGeom prst="ellipse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28016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749808"/>
            <a:ext cx="2057400" cy="3749039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00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749808"/>
            <a:ext cx="20574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8229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Phase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06984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50"/>
                </a:solidFill>
                <a:latin typeface="DM Sans"/>
              </a:defRPr>
            </a:pPr>
            <a: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252728"/>
            <a:ext cx="19202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BA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1499616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463040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BA drafts Feature Set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192938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892808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brd-scan: 7 contract checks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" y="235915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322576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dependency-map-sync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278892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752344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fs-readiness: score 5 dims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" y="3218688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182112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Contract sign-off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" y="3931919"/>
            <a:ext cx="19110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986783"/>
            <a:ext cx="1837944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DM Sans"/>
              </a:defRPr>
            </a:pPr>
            <a:r>
              <a:t>BRD signed · Readiness ≥ PROCEED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76856" y="2583179"/>
            <a:ext cx="109728" cy="82296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23160" y="749808"/>
            <a:ext cx="2057400" cy="3749039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00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3160" y="749808"/>
            <a:ext cx="20574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8229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Phase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06984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50"/>
                </a:solidFill>
                <a:latin typeface="DM Sans"/>
              </a:defRPr>
            </a:pPr>
            <a:r>
              <a:t>Arch Alignment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1252728"/>
            <a:ext cx="19202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Architect</a:t>
            </a:r>
          </a:p>
        </p:txBody>
      </p:sp>
      <p:sp>
        <p:nvSpPr>
          <p:cNvPr id="33" name="Oval 32"/>
          <p:cNvSpPr/>
          <p:nvPr/>
        </p:nvSpPr>
        <p:spPr>
          <a:xfrm>
            <a:off x="2514600" y="1499616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1463040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Draft alignment (CVD)</a:t>
            </a:r>
          </a:p>
        </p:txBody>
      </p:sp>
      <p:sp>
        <p:nvSpPr>
          <p:cNvPr id="35" name="Oval 34"/>
          <p:cNvSpPr/>
          <p:nvPr/>
        </p:nvSpPr>
        <p:spPr>
          <a:xfrm>
            <a:off x="2514600" y="192938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1892808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Verify citations</a:t>
            </a:r>
          </a:p>
        </p:txBody>
      </p:sp>
      <p:sp>
        <p:nvSpPr>
          <p:cNvPr id="37" name="Oval 36"/>
          <p:cNvSpPr/>
          <p:nvPr/>
        </p:nvSpPr>
        <p:spPr>
          <a:xfrm>
            <a:off x="2514600" y="2359152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2322576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Architect reviews + approves</a:t>
            </a:r>
          </a:p>
        </p:txBody>
      </p:sp>
      <p:sp>
        <p:nvSpPr>
          <p:cNvPr id="39" name="Oval 38"/>
          <p:cNvSpPr/>
          <p:nvPr/>
        </p:nvSpPr>
        <p:spPr>
          <a:xfrm>
            <a:off x="2514600" y="278892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2752344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Draft contracts &amp; phasing</a:t>
            </a:r>
          </a:p>
        </p:txBody>
      </p:sp>
      <p:sp>
        <p:nvSpPr>
          <p:cNvPr id="41" name="Oval 40"/>
          <p:cNvSpPr/>
          <p:nvPr/>
        </p:nvSpPr>
        <p:spPr>
          <a:xfrm>
            <a:off x="2514600" y="3218688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3182112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Sign-off, steering files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96312" y="3931919"/>
            <a:ext cx="19110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32888" y="3986783"/>
            <a:ext cx="1837944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DM Sans"/>
              </a:defRPr>
            </a:pPr>
            <a:r>
              <a:t>Alignment approved · All FRs mapped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517136" y="2583179"/>
            <a:ext cx="109728" cy="82296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663440" y="749808"/>
            <a:ext cx="2057400" cy="3749039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00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63440" y="749808"/>
            <a:ext cx="20574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8229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Phase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106984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50"/>
                </a:solidFill>
                <a:latin typeface="DM Sans"/>
              </a:defRPr>
            </a:pPr>
            <a:r>
              <a:t>Parallel Execution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1252728"/>
            <a:ext cx="19202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Dev + QA</a:t>
            </a:r>
          </a:p>
        </p:txBody>
      </p:sp>
      <p:sp>
        <p:nvSpPr>
          <p:cNvPr id="51" name="Oval 50"/>
          <p:cNvSpPr/>
          <p:nvPr/>
        </p:nvSpPr>
        <p:spPr>
          <a:xfrm>
            <a:off x="4754880" y="1499616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1463040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SDD: reqs → design → tasks → impl</a:t>
            </a:r>
          </a:p>
        </p:txBody>
      </p:sp>
      <p:sp>
        <p:nvSpPr>
          <p:cNvPr id="53" name="Oval 52"/>
          <p:cNvSpPr/>
          <p:nvPr/>
        </p:nvSpPr>
        <p:spPr>
          <a:xfrm>
            <a:off x="4754880" y="1929384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92040" y="1892808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Dev reviews design &amp; tasks</a:t>
            </a:r>
          </a:p>
        </p:txBody>
      </p:sp>
      <p:sp>
        <p:nvSpPr>
          <p:cNvPr id="55" name="Oval 54"/>
          <p:cNvSpPr/>
          <p:nvPr/>
        </p:nvSpPr>
        <p:spPr>
          <a:xfrm>
            <a:off x="4754880" y="235915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2322576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Implement with TDD</a:t>
            </a:r>
          </a:p>
        </p:txBody>
      </p:sp>
      <p:sp>
        <p:nvSpPr>
          <p:cNvPr id="57" name="Oval 56"/>
          <p:cNvSpPr/>
          <p:nvPr/>
        </p:nvSpPr>
        <p:spPr>
          <a:xfrm>
            <a:off x="4754880" y="278892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2040" y="2752344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QA: acceptance criteria</a:t>
            </a:r>
          </a:p>
        </p:txBody>
      </p:sp>
      <p:sp>
        <p:nvSpPr>
          <p:cNvPr id="59" name="Oval 58"/>
          <p:cNvSpPr/>
          <p:nvPr/>
        </p:nvSpPr>
        <p:spPr>
          <a:xfrm>
            <a:off x="4754880" y="3218688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92040" y="3182112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QA verifies BDD vs AC, merge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36592" y="3931919"/>
            <a:ext cx="19110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73168" y="3986783"/>
            <a:ext cx="1837944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DM Sans"/>
              </a:defRPr>
            </a:pPr>
            <a:r>
              <a:t>PR merged · Gap validation clean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6757416" y="2583179"/>
            <a:ext cx="109728" cy="82296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903720" y="749808"/>
            <a:ext cx="2057400" cy="3749039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00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03720" y="749808"/>
            <a:ext cx="20574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95160" y="8229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Phase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95160" y="106984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50"/>
                </a:solidFill>
                <a:latin typeface="DM Sans"/>
              </a:defRPr>
            </a:pPr>
            <a:r>
              <a:t>Integration QA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1252728"/>
            <a:ext cx="19202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QA</a:t>
            </a:r>
          </a:p>
        </p:txBody>
      </p:sp>
      <p:sp>
        <p:nvSpPr>
          <p:cNvPr id="69" name="Oval 68"/>
          <p:cNvSpPr/>
          <p:nvPr/>
        </p:nvSpPr>
        <p:spPr>
          <a:xfrm>
            <a:off x="6995160" y="1499616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0" y="1463040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Integration acceptance tests</a:t>
            </a:r>
          </a:p>
        </p:txBody>
      </p:sp>
      <p:sp>
        <p:nvSpPr>
          <p:cNvPr id="71" name="Oval 70"/>
          <p:cNvSpPr/>
          <p:nvPr/>
        </p:nvSpPr>
        <p:spPr>
          <a:xfrm>
            <a:off x="6995160" y="1929384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0" y="1892808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Triage failures</a:t>
            </a:r>
          </a:p>
        </p:txBody>
      </p:sp>
      <p:sp>
        <p:nvSpPr>
          <p:cNvPr id="73" name="Oval 72"/>
          <p:cNvSpPr/>
          <p:nvPr/>
        </p:nvSpPr>
        <p:spPr>
          <a:xfrm>
            <a:off x="6995160" y="235915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20" y="2322576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metrics-update agent</a:t>
            </a:r>
          </a:p>
        </p:txBody>
      </p:sp>
      <p:sp>
        <p:nvSpPr>
          <p:cNvPr id="75" name="Oval 74"/>
          <p:cNvSpPr/>
          <p:nvPr/>
        </p:nvSpPr>
        <p:spPr>
          <a:xfrm>
            <a:off x="6995160" y="278892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32320" y="2752344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dependency-map-sync</a:t>
            </a:r>
          </a:p>
        </p:txBody>
      </p:sp>
      <p:sp>
        <p:nvSpPr>
          <p:cNvPr id="77" name="Oval 76"/>
          <p:cNvSpPr/>
          <p:nvPr/>
        </p:nvSpPr>
        <p:spPr>
          <a:xfrm>
            <a:off x="6995160" y="3218688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0" y="3182112"/>
            <a:ext cx="1764792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Feature Done ✔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76872" y="3931919"/>
            <a:ext cx="19110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13448" y="3986783"/>
            <a:ext cx="1837944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DM Sans"/>
              </a:defRPr>
            </a:pPr>
            <a:r>
              <a:t>All Must Have ACs pass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Phase 0: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Owner: BA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37160"/>
            <a:ext cx="76200" cy="762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09728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Human</a:t>
            </a:r>
          </a:p>
        </p:txBody>
      </p:sp>
      <p:sp>
        <p:nvSpPr>
          <p:cNvPr id="7" name="Oval 6"/>
          <p:cNvSpPr/>
          <p:nvPr/>
        </p:nvSpPr>
        <p:spPr>
          <a:xfrm>
            <a:off x="8183879" y="137160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1" y="109728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804672"/>
            <a:ext cx="5029200" cy="56692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25400" cy="56692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" y="1037336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22960"/>
            <a:ext cx="48006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BA drafts Feature Set</a:t>
            </a:r>
            <a:br/>
            <a:r>
              <a:t>FR table · BR table · Assign FS-ID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747772" y="1371600"/>
            <a:ext cx="73152" cy="164592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1536192"/>
            <a:ext cx="5029200" cy="56692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536192"/>
            <a:ext cx="25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7472" y="1768856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554480"/>
            <a:ext cx="48006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brd-scan agent</a:t>
            </a:r>
            <a:br/>
            <a:r>
              <a:t>7 contract checks — automated validation of BRD quality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747772" y="2103120"/>
            <a:ext cx="73152" cy="164592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" y="2267712"/>
            <a:ext cx="5029200" cy="56692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267712"/>
            <a:ext cx="25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7472" y="2500376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86000"/>
            <a:ext cx="48006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dependency-map-sync</a:t>
            </a:r>
            <a:br/>
            <a:r>
              <a:t>Register FS-ID in dependency registry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747772" y="2834640"/>
            <a:ext cx="73152" cy="164592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" y="2999232"/>
            <a:ext cx="5029200" cy="56692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999232"/>
            <a:ext cx="25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" y="3231896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017520"/>
            <a:ext cx="48006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fs-readiness agent</a:t>
            </a:r>
            <a:br/>
            <a:r>
              <a:t>Score across 5 dimensions (3 auto, 2 Architect Q&amp;A)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2747772" y="3566160"/>
            <a:ext cx="73152" cy="164592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" y="3730752"/>
            <a:ext cx="5029200" cy="56692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730752"/>
            <a:ext cx="25400" cy="56692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7472" y="3963416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49040"/>
            <a:ext cx="48006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Contract sign-off</a:t>
            </a:r>
            <a:br/>
            <a:r>
              <a:t>BA + Stakeholders approve the BRD Feature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804672"/>
            <a:ext cx="3017520" cy="1508760"/>
          </a:xfrm>
          <a:prstGeom prst="roundRect">
            <a:avLst/>
          </a:prstGeom>
          <a:solidFill>
            <a:srgbClr val="690037"/>
          </a:solidFill>
          <a:ln w="12700">
            <a:solidFill>
              <a:srgbClr val="690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68" y="896112"/>
            <a:ext cx="279806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Gate to Phase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24144" y="1225296"/>
            <a:ext cx="276148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• BRD Contract signed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4144" y="1554480"/>
            <a:ext cx="276148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• Readiness ≥ PROCEED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4144" y="1883664"/>
            <a:ext cx="276148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• Dependencies mapped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2487168"/>
            <a:ext cx="3017520" cy="1600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7568" y="2578608"/>
            <a:ext cx="279806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Artefacts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144" y="2898648"/>
            <a:ext cx="27614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FFFFFF"/>
                </a:solidFill>
                <a:latin typeface="DM Sans"/>
              </a:defRPr>
            </a:pPr>
            <a:r>
              <a:t>✔ Signed BRD Feature 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144" y="3172968"/>
            <a:ext cx="27614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FFFFFF"/>
                </a:solidFill>
                <a:latin typeface="DM Sans"/>
              </a:defRPr>
            </a:pPr>
            <a:r>
              <a:t>✔ Dependency map entry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24144" y="3447288"/>
            <a:ext cx="27614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FFFFFF"/>
                </a:solidFill>
                <a:latin typeface="DM Sans"/>
              </a:defRPr>
            </a:pPr>
            <a:r>
              <a:t>✔ Readiness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24144" y="3721608"/>
            <a:ext cx="2761488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FFFFFF"/>
                </a:solidFill>
                <a:latin typeface="DM Sans"/>
              </a:defRPr>
            </a:pPr>
            <a:r>
              <a:t>✔ Scan report + metrics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Phase 1: Architecture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Owner: Architect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37160"/>
            <a:ext cx="76200" cy="762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09728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Human</a:t>
            </a:r>
          </a:p>
        </p:txBody>
      </p:sp>
      <p:sp>
        <p:nvSpPr>
          <p:cNvPr id="7" name="Oval 6"/>
          <p:cNvSpPr/>
          <p:nvPr/>
        </p:nvSpPr>
        <p:spPr>
          <a:xfrm>
            <a:off x="8183879" y="137160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1" y="109728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804672"/>
            <a:ext cx="1920240" cy="8229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25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" y="116535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22960"/>
            <a:ext cx="16916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S1: Draft alignment</a:t>
            </a:r>
            <a:br/>
            <a:r>
              <a:t>FR decomp + codebase analysis</a:t>
            </a:r>
            <a:br/>
            <a:r>
              <a:t>CVD-grounded reasoning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12848" y="1175004"/>
            <a:ext cx="100584" cy="82296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31720" y="804672"/>
            <a:ext cx="1920240" cy="8229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804672"/>
            <a:ext cx="25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04872" y="116535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822960"/>
            <a:ext cx="16916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S2: Verify citations</a:t>
            </a:r>
            <a:br/>
            <a:r>
              <a:t>Deterministic CVD script</a:t>
            </a:r>
            <a:br/>
            <a:r>
              <a:t>validates code references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70248" y="1175004"/>
            <a:ext cx="100584" cy="82296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804672"/>
            <a:ext cx="1920240" cy="8229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804672"/>
            <a:ext cx="25400" cy="8229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62272" y="1165352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822960"/>
            <a:ext cx="16916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S3: Approve alignment</a:t>
            </a:r>
            <a:br/>
            <a:r>
              <a:t>Architect reviews draft +</a:t>
            </a:r>
            <a:br/>
            <a:r>
              <a:t>CVD report, fills checklist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327648" y="1175004"/>
            <a:ext cx="100584" cy="82296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804672"/>
            <a:ext cx="1920240" cy="8229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804672"/>
            <a:ext cx="25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9672" y="116535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822960"/>
            <a:ext cx="16916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S4: Draft contracts</a:t>
            </a:r>
            <a:br/>
            <a:r>
              <a:t>Cross-repo API contracts</a:t>
            </a:r>
            <a:br/>
            <a:r>
              <a:t>CVD-cited pattern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1901952"/>
            <a:ext cx="1920240" cy="8229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1901952"/>
            <a:ext cx="25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7472" y="226263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920240"/>
            <a:ext cx="16916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S5: Draft phasing</a:t>
            </a:r>
            <a:br/>
            <a:r>
              <a:t>Propose execution order</a:t>
            </a:r>
            <a:br/>
            <a:r>
              <a:t>Provider → consumer deps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212848" y="2272284"/>
            <a:ext cx="100584" cy="82296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331720" y="1901952"/>
            <a:ext cx="1920240" cy="8229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31720" y="1901952"/>
            <a:ext cx="25400" cy="8229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04872" y="2262632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1920240"/>
            <a:ext cx="16916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S6: Approve &amp; sign-off</a:t>
            </a:r>
            <a:br/>
            <a:r>
              <a:t>Architect confirms sequencing</a:t>
            </a:r>
            <a:br/>
            <a:r>
              <a:t>and signs off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270248" y="2272284"/>
            <a:ext cx="100584" cy="82296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89120" y="1901952"/>
            <a:ext cx="1920240" cy="8229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1901952"/>
            <a:ext cx="25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62272" y="226263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1920240"/>
            <a:ext cx="16916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S7: Finalize</a:t>
            </a:r>
            <a:br/>
            <a:r>
              <a:t>Assemble steering files</a:t>
            </a:r>
            <a:br/>
            <a:r>
              <a:t>9 validation rules, create PRs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7370064" y="1627632"/>
            <a:ext cx="73152" cy="27432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9360" y="1901952"/>
            <a:ext cx="2560320" cy="822960"/>
          </a:xfrm>
          <a:prstGeom prst="roundRect">
            <a:avLst/>
          </a:prstGeom>
          <a:solidFill>
            <a:srgbClr val="690037"/>
          </a:solidFill>
          <a:ln w="12700">
            <a:solidFill>
              <a:srgbClr val="690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1975104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Gate to Phase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231136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Alignment approved</a:t>
            </a:r>
            <a:br/>
            <a:r>
              <a:t>All FRs mapped</a:t>
            </a:r>
            <a:br/>
            <a:r>
              <a:t>Contracts defined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2926080"/>
            <a:ext cx="8595360" cy="6858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999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Artefacts: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3273552"/>
            <a:ext cx="1673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✔ Alignment doc (CVD-verified)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30552" y="3273552"/>
            <a:ext cx="1673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✔ Cross-repo contracts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9624" y="3273552"/>
            <a:ext cx="1673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✔ Execution phasing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68696" y="3273552"/>
            <a:ext cx="1673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✔ Steering file PRs (per repo)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87768" y="3273552"/>
            <a:ext cx="16733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✔ Alignment tracker updated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Phase 2: Parallel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13232"/>
            <a:ext cx="8595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68096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50"/>
                </a:solidFill>
                <a:latin typeface="DM Sans"/>
              </a:defRPr>
            </a:pPr>
            <a:r>
              <a:t>SDD Track — Developer +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25400" cy="804672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3192" y="141224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Verify</a:t>
            </a:r>
            <a:br/>
            <a:r>
              <a:t>steering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197864" y="1421892"/>
            <a:ext cx="67437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74445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74445" y="1060704"/>
            <a:ext cx="25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47597" y="141224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57325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spec-</a:t>
            </a:r>
            <a:br/>
            <a:r>
              <a:t>reqs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52269" y="1421892"/>
            <a:ext cx="67437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28850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28850" y="1060704"/>
            <a:ext cx="25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02002" y="141224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1730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spec-</a:t>
            </a:r>
            <a:br/>
            <a:r>
              <a:t>design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06674" y="1421892"/>
            <a:ext cx="67437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83255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83255" y="1060704"/>
            <a:ext cx="25400" cy="804672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56407" y="141224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6135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Review</a:t>
            </a:r>
            <a:br/>
            <a:r>
              <a:t>design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061079" y="1421892"/>
            <a:ext cx="67437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37660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37660" y="1060704"/>
            <a:ext cx="25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0812" y="141224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540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spec-</a:t>
            </a:r>
            <a:br/>
            <a:r>
              <a:t>tasks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015484" y="1421892"/>
            <a:ext cx="67437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92065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92065" y="1060704"/>
            <a:ext cx="25400" cy="804672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65217" y="141224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4945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Review</a:t>
            </a:r>
            <a:br/>
            <a:r>
              <a:t>tasks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969889" y="1421892"/>
            <a:ext cx="67437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46470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46470" y="1060704"/>
            <a:ext cx="25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19622" y="141224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9350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spec-</a:t>
            </a:r>
            <a:br/>
            <a:r>
              <a:t>impl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924294" y="1421892"/>
            <a:ext cx="67437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00875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00875" y="1060704"/>
            <a:ext cx="25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74027" y="141224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83755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validate-</a:t>
            </a:r>
            <a:br/>
            <a:r>
              <a:t>gap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878699" y="1421892"/>
            <a:ext cx="67437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55280" y="1060704"/>
            <a:ext cx="868680" cy="804672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55280" y="1060704"/>
            <a:ext cx="25400" cy="804672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28432" y="141224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1078992"/>
            <a:ext cx="64008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Raise</a:t>
            </a:r>
            <a:br/>
            <a:r>
              <a:t>PR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1929384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DM Sans"/>
              </a:defRPr>
            </a:pPr>
            <a:r>
              <a:t>↩ rejected?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192938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DM Sans"/>
              </a:defRPr>
            </a:pPr>
            <a:r>
              <a:t>↩ gaps?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2286000"/>
            <a:ext cx="3931920" cy="1005840"/>
          </a:xfrm>
          <a:prstGeom prst="roundRect">
            <a:avLst/>
          </a:prstGeom>
          <a:solidFill>
            <a:srgbClr val="FAB9FF"/>
          </a:solidFill>
          <a:ln w="12700">
            <a:solidFill>
              <a:srgbClr val="FA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2340864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50"/>
                </a:solidFill>
                <a:latin typeface="DM Sans"/>
              </a:defRPr>
            </a:pPr>
            <a:r>
              <a:t>QA Track — runs in parallel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2606040"/>
            <a:ext cx="1645920" cy="5943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2606040"/>
            <a:ext cx="25400" cy="5943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84632" y="285242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2624328"/>
            <a:ext cx="1417320" cy="5577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Write acceptance-</a:t>
            </a:r>
            <a:br/>
            <a:r>
              <a:t>criteria.md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2066544" y="2866644"/>
            <a:ext cx="91440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167128" y="2606040"/>
            <a:ext cx="1645920" cy="5943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67128" y="2606040"/>
            <a:ext cx="25400" cy="5943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40280" y="285242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50008" y="2624328"/>
            <a:ext cx="1417320" cy="5577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Review design.md</a:t>
            </a:r>
            <a:br/>
            <a:r>
              <a:t>for testability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0" y="2286000"/>
            <a:ext cx="4480560" cy="1005840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2340864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PR Review &amp; Merge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26280" y="2606040"/>
            <a:ext cx="1280160" cy="594360"/>
          </a:xfrm>
          <a:prstGeom prst="roundRect">
            <a:avLst/>
          </a:prstGeom>
          <a:solidFill>
            <a:srgbClr val="B4DCFA"/>
          </a:solidFill>
          <a:ln w="6350">
            <a:solidFill>
              <a:srgbClr val="B4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26280" y="2606040"/>
            <a:ext cx="25400" cy="5943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99432" y="285242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60" y="2624328"/>
            <a:ext cx="1051560" cy="5577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50"/>
                </a:solidFill>
                <a:latin typeface="DM Sans"/>
              </a:defRPr>
            </a:pPr>
            <a:r>
              <a:t>QA verifies BDD</a:t>
            </a:r>
            <a:br/>
            <a:r>
              <a:t>vs AC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815584" y="2866644"/>
            <a:ext cx="73152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897880" y="2606040"/>
            <a:ext cx="1280160" cy="594360"/>
          </a:xfrm>
          <a:prstGeom prst="roundRect">
            <a:avLst/>
          </a:prstGeom>
          <a:solidFill>
            <a:srgbClr val="B4DCFA"/>
          </a:solidFill>
          <a:ln w="6350">
            <a:solidFill>
              <a:srgbClr val="B4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7880" y="2606040"/>
            <a:ext cx="25400" cy="5943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71032" y="2852420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0760" y="2624328"/>
            <a:ext cx="1051560" cy="5577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50"/>
                </a:solidFill>
                <a:latin typeface="DM Sans"/>
              </a:defRPr>
            </a:pPr>
            <a:r>
              <a:t>Merge PR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7187184" y="2866644"/>
            <a:ext cx="73152" cy="73152"/>
          </a:xfrm>
          <a:prstGeom prst="right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269480" y="2606040"/>
            <a:ext cx="1280160" cy="594360"/>
          </a:xfrm>
          <a:prstGeom prst="roundRect">
            <a:avLst/>
          </a:prstGeom>
          <a:solidFill>
            <a:srgbClr val="B4DCFA"/>
          </a:solidFill>
          <a:ln w="6350">
            <a:solidFill>
              <a:srgbClr val="B4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269480" y="2606040"/>
            <a:ext cx="25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342632" y="285242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52360" y="2624328"/>
            <a:ext cx="1051560" cy="5577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50"/>
                </a:solidFill>
                <a:latin typeface="DM Sans"/>
              </a:defRPr>
            </a:pPr>
            <a:r>
              <a:t>metrics-</a:t>
            </a:r>
            <a:br/>
            <a:r>
              <a:t>update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60520" y="204825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50"/>
                </a:solidFill>
                <a:latin typeface="DM Sans"/>
              </a:defRPr>
            </a:pPr>
            <a:r>
              <a:t>⤵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60520" y="232257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50"/>
                </a:solidFill>
                <a:latin typeface="DM Sans"/>
              </a:defRPr>
            </a:pPr>
            <a:r>
              <a:t>⤴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Phase 3: Integration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Owner: QA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37160"/>
            <a:ext cx="76200" cy="762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09728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Human</a:t>
            </a:r>
          </a:p>
        </p:txBody>
      </p:sp>
      <p:sp>
        <p:nvSpPr>
          <p:cNvPr id="7" name="Oval 6"/>
          <p:cNvSpPr/>
          <p:nvPr/>
        </p:nvSpPr>
        <p:spPr>
          <a:xfrm>
            <a:off x="8183879" y="137160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1" y="109728"/>
            <a:ext cx="548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804672"/>
            <a:ext cx="50292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254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" y="1083056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22960"/>
            <a:ext cx="48006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QA tests</a:t>
            </a:r>
            <a:br/>
            <a:r>
              <a:t>Validate deployed build against acceptance-criteria.md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752344" y="1463040"/>
            <a:ext cx="73152" cy="201168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1664208"/>
            <a:ext cx="50292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664208"/>
            <a:ext cx="254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7472" y="1942592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82496"/>
            <a:ext cx="48006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All Must Have ACs pass?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752344" y="2322576"/>
            <a:ext cx="73152" cy="201168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" y="2523744"/>
            <a:ext cx="50292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523744"/>
            <a:ext cx="254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7472" y="2802128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42032"/>
            <a:ext cx="48006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Triage failures to correct phase</a:t>
            </a:r>
            <a:br/>
            <a:r>
              <a:t>Bug → Phase 2 · Design gap → spec-design · BR issue → Phase 0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752344" y="3182112"/>
            <a:ext cx="73152" cy="201168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" y="3383280"/>
            <a:ext cx="50292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254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" y="3661664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01568"/>
            <a:ext cx="48006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Feature Done</a:t>
            </a:r>
            <a:br/>
            <a:r>
              <a:t>Should Have failures tracked as follow-on 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221284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000050"/>
                </a:solidFill>
                <a:latin typeface="DM Sans"/>
              </a:defRPr>
            </a:pPr>
            <a:r>
              <a:t>↩ Failures re-enter pipeline at correct phase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2880360"/>
            <a:ext cx="3017520" cy="150876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87568" y="2971800"/>
            <a:ext cx="279806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Automated on Feature Done: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87568" y="3319272"/>
            <a:ext cx="2798064" cy="402336"/>
          </a:xfrm>
          <a:prstGeom prst="roundRect">
            <a:avLst/>
          </a:prstGeom>
          <a:solidFill>
            <a:srgbClr val="B4DCFA"/>
          </a:solidFill>
          <a:ln w="6350">
            <a:solidFill>
              <a:srgbClr val="B4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87568" y="3319272"/>
            <a:ext cx="25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60720" y="346964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3337560"/>
            <a:ext cx="25694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50"/>
                </a:solidFill>
                <a:latin typeface="DM Sans"/>
              </a:defRPr>
            </a:pPr>
            <a:r>
              <a:t>metrics-update agent</a:t>
            </a:r>
            <a:br/>
            <a:r>
              <a:t>Cycle days, QA first-pass rate, summary refresh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87568" y="3822192"/>
            <a:ext cx="2798064" cy="402336"/>
          </a:xfrm>
          <a:prstGeom prst="roundRect">
            <a:avLst/>
          </a:prstGeom>
          <a:solidFill>
            <a:srgbClr val="B4DCFA"/>
          </a:solidFill>
          <a:ln w="6350">
            <a:solidFill>
              <a:srgbClr val="B4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87568" y="3822192"/>
            <a:ext cx="25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60720" y="397256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70448" y="3840480"/>
            <a:ext cx="256946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50"/>
                </a:solidFill>
                <a:latin typeface="DM Sans"/>
              </a:defRPr>
            </a:pPr>
            <a:r>
              <a:t>dependency-map-sync</a:t>
            </a:r>
            <a:br/>
            <a:r>
              <a:t>Unblock dependent feature sets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Who Does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713232"/>
            <a:ext cx="1828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0200" y="713232"/>
            <a:ext cx="1828800" cy="254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5064" y="768096"/>
            <a:ext cx="1719072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0050"/>
                </a:solidFill>
                <a:latin typeface="DM Sans"/>
              </a:defRPr>
            </a:pPr>
            <a:r>
              <a:t>Phase 0</a:t>
            </a:r>
            <a:br/>
            <a:r>
              <a:t>Requirements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713232"/>
            <a:ext cx="1828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713232"/>
            <a:ext cx="1828800" cy="254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9584" y="768096"/>
            <a:ext cx="1719072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0050"/>
                </a:solidFill>
                <a:latin typeface="DM Sans"/>
              </a:defRPr>
            </a:pPr>
            <a:r>
              <a:t>Phase 1</a:t>
            </a:r>
            <a:br/>
            <a:r>
              <a:t>Alignment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713232"/>
            <a:ext cx="1828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49240" y="713232"/>
            <a:ext cx="1828800" cy="254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4104" y="768096"/>
            <a:ext cx="1719072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0050"/>
                </a:solidFill>
                <a:latin typeface="DM Sans"/>
              </a:defRPr>
            </a:pPr>
            <a:r>
              <a:t>Phase 2</a:t>
            </a:r>
            <a:br/>
            <a:r>
              <a:t>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713232"/>
            <a:ext cx="1828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713232"/>
            <a:ext cx="1828800" cy="254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8624" y="768096"/>
            <a:ext cx="1719072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0050"/>
                </a:solidFill>
                <a:latin typeface="DM Sans"/>
              </a:defRPr>
            </a:pPr>
            <a:r>
              <a:t>Phase 3</a:t>
            </a:r>
            <a:br/>
            <a:r>
              <a:t>QA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225296"/>
            <a:ext cx="128016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381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408176"/>
            <a:ext cx="11155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BA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1225296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3352" y="1280160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Draft Feature Set</a:t>
            </a:r>
            <a:br/>
            <a:r>
              <a:t>Fix scan findings</a:t>
            </a:r>
            <a:br/>
            <a:r>
              <a:t>Contract sign-off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225296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1280160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1225296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1280160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1225296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1280160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Mark FS delivered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1920240"/>
            <a:ext cx="128016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1920240"/>
            <a:ext cx="38100" cy="65836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103120"/>
            <a:ext cx="11155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Architect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00200" y="1920240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73352" y="1975104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Readiness scoring</a:t>
            </a:r>
            <a:br/>
            <a:r>
              <a:t>(Q&amp;A dimensions)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1920240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1975104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Review all drafts</a:t>
            </a:r>
            <a:br/>
            <a:r>
              <a:t>Approve at each gate</a:t>
            </a:r>
            <a:br/>
            <a:r>
              <a:t>Co-sign alignment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1920240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22392" y="1975104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1920240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6912" y="1975104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2615184"/>
            <a:ext cx="128016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615184"/>
            <a:ext cx="381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2798064"/>
            <a:ext cx="11155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Developer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00200" y="2615184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73352" y="2670048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0" y="2615184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2670048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49240" y="2615184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22392" y="2670048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Verify steering</a:t>
            </a:r>
            <a:br/>
            <a:r>
              <a:t>Review design &amp; tasks</a:t>
            </a:r>
            <a:br/>
            <a:r>
              <a:t>Raise &amp; merge PR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2615184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96912" y="2670048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3310128"/>
            <a:ext cx="128016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310128"/>
            <a:ext cx="38100" cy="65836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3493008"/>
            <a:ext cx="11155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QA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00200" y="3310128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73352" y="3364992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74720" y="3310128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7872" y="3364992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49240" y="3310128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22392" y="3364992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Write acceptance criteria</a:t>
            </a:r>
            <a:br/>
            <a:r>
              <a:t>Review design testability</a:t>
            </a:r>
            <a:br/>
            <a:r>
              <a:t>Joint PR review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23760" y="3310128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3364992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Run integration tests</a:t>
            </a:r>
            <a:br/>
            <a:r>
              <a:t>Triage failures</a:t>
            </a:r>
            <a:br/>
            <a:r>
              <a:t>Sign off Feature Done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4005072"/>
            <a:ext cx="128016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4320" y="4005072"/>
            <a:ext cx="381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4187952"/>
            <a:ext cx="11155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Designer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00200" y="4005072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73352" y="4059936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UI/UX flows in Figma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74720" y="4005072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47872" y="4059936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Review UI alignment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49240" y="4005072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22392" y="4059936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Validate via Figma MCP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23760" y="4005072"/>
            <a:ext cx="1828800" cy="658368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96912" y="4059936"/>
            <a:ext cx="1682496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DM Sans"/>
              </a:defRPr>
            </a:pPr>
            <a: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4407408"/>
            <a:ext cx="8595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Every role contributes to the harness. The agent multiplies everyone’s judgment.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5A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0050"/>
                </a:solidFill>
                <a:latin typeface="DM Sans"/>
              </a:defRPr>
            </a:pPr>
            <a:r>
              <a:t>Spec-Driven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50"/>
                </a:solidFill>
                <a:latin typeface="DM Sans"/>
              </a:defRPr>
            </a:pPr>
            <a:r>
              <a:t>The workflow that puts the SDLC into practice.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SDD: Four Phases</a:t>
            </a:r>
          </a:p>
        </p:txBody>
      </p:sp>
      <p:sp>
        <p:nvSpPr>
          <p:cNvPr id="1265" name="Rounded Rectangle 1264"/>
          <p:cNvSpPr/>
          <p:nvPr/>
        </p:nvSpPr>
        <p:spPr>
          <a:xfrm>
            <a:off x="160020" y="640080"/>
            <a:ext cx="2103120" cy="420624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Rectangle 1265"/>
          <p:cNvSpPr/>
          <p:nvPr/>
        </p:nvSpPr>
        <p:spPr>
          <a:xfrm>
            <a:off x="160020" y="640080"/>
            <a:ext cx="210312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TextBox 1266"/>
          <p:cNvSpPr txBox="1"/>
          <p:nvPr/>
        </p:nvSpPr>
        <p:spPr>
          <a:xfrm>
            <a:off x="269748" y="804672"/>
            <a:ext cx="1920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ourier New"/>
              </a:defRPr>
            </a:pPr>
            <a:r>
              <a:t>spec-requirements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269748" y="1234440"/>
            <a:ext cx="19202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Generate EARS requirements</a:t>
            </a:r>
            <a:br/>
            <a:r>
              <a:t>from steering files</a:t>
            </a:r>
          </a:p>
        </p:txBody>
      </p:sp>
      <p:sp>
        <p:nvSpPr>
          <p:cNvPr id="1269" name="Rounded Rectangle 1268"/>
          <p:cNvSpPr/>
          <p:nvPr/>
        </p:nvSpPr>
        <p:spPr>
          <a:xfrm>
            <a:off x="251460" y="2286000"/>
            <a:ext cx="1920240" cy="2450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TextBox 1269"/>
          <p:cNvSpPr txBox="1"/>
          <p:nvPr/>
        </p:nvSpPr>
        <p:spPr>
          <a:xfrm>
            <a:off x="342900" y="2359152"/>
            <a:ext cx="1783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0050"/>
                </a:solidFill>
                <a:latin typeface="DM Sans"/>
              </a:defRPr>
            </a:pPr>
            <a:r>
              <a:t>Artefacts</a:t>
            </a:r>
          </a:p>
        </p:txBody>
      </p:sp>
      <p:sp>
        <p:nvSpPr>
          <p:cNvPr id="1271" name="TextBox 1270"/>
          <p:cNvSpPr txBox="1"/>
          <p:nvPr/>
        </p:nvSpPr>
        <p:spPr>
          <a:xfrm>
            <a:off x="342900" y="2633472"/>
            <a:ext cx="1783080" cy="20665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Courier New"/>
              </a:defRPr>
            </a:pPr>
            <a:r>
              <a:t>requirements.md</a:t>
            </a:r>
            <a:br/>
            <a:r>
              <a:t>research.md</a:t>
            </a:r>
          </a:p>
        </p:txBody>
      </p:sp>
      <p:sp>
        <p:nvSpPr>
          <p:cNvPr id="1272" name="Right Arrow 1271"/>
          <p:cNvSpPr/>
          <p:nvPr/>
        </p:nvSpPr>
        <p:spPr>
          <a:xfrm>
            <a:off x="2281428" y="2702052"/>
            <a:ext cx="10058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Rounded Rectangle 1272"/>
          <p:cNvSpPr/>
          <p:nvPr/>
        </p:nvSpPr>
        <p:spPr>
          <a:xfrm>
            <a:off x="2400300" y="640080"/>
            <a:ext cx="2103120" cy="420624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Rectangle 1273"/>
          <p:cNvSpPr/>
          <p:nvPr/>
        </p:nvSpPr>
        <p:spPr>
          <a:xfrm>
            <a:off x="2400300" y="640080"/>
            <a:ext cx="2103120" cy="381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2510028" y="804672"/>
            <a:ext cx="1920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ourier New"/>
              </a:defRPr>
            </a:pPr>
            <a:r>
              <a:t>spec-design</a:t>
            </a:r>
          </a:p>
        </p:txBody>
      </p:sp>
      <p:sp>
        <p:nvSpPr>
          <p:cNvPr id="1276" name="TextBox 1275"/>
          <p:cNvSpPr txBox="1"/>
          <p:nvPr/>
        </p:nvSpPr>
        <p:spPr>
          <a:xfrm>
            <a:off x="2510028" y="1234440"/>
            <a:ext cx="19202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Design architecture,</a:t>
            </a:r>
            <a:br/>
            <a:r>
              <a:t>APIs, data models</a:t>
            </a:r>
          </a:p>
        </p:txBody>
      </p:sp>
      <p:sp>
        <p:nvSpPr>
          <p:cNvPr id="1277" name="Rounded Rectangle 1276"/>
          <p:cNvSpPr/>
          <p:nvPr/>
        </p:nvSpPr>
        <p:spPr>
          <a:xfrm>
            <a:off x="2491740" y="2286000"/>
            <a:ext cx="1920240" cy="2450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2583180" y="2359152"/>
            <a:ext cx="1783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0050"/>
                </a:solidFill>
                <a:latin typeface="DM Sans"/>
              </a:defRPr>
            </a:pPr>
            <a:r>
              <a:t>Artefacts</a:t>
            </a:r>
          </a:p>
        </p:txBody>
      </p:sp>
      <p:sp>
        <p:nvSpPr>
          <p:cNvPr id="1279" name="TextBox 1278"/>
          <p:cNvSpPr txBox="1"/>
          <p:nvPr/>
        </p:nvSpPr>
        <p:spPr>
          <a:xfrm>
            <a:off x="2583180" y="2633472"/>
            <a:ext cx="1783080" cy="20665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Courier New"/>
              </a:defRPr>
            </a:pPr>
            <a:r>
              <a:t>design.md</a:t>
            </a:r>
            <a:br/>
            <a:r>
              <a:t>ADRs, contracts</a:t>
            </a:r>
          </a:p>
        </p:txBody>
      </p:sp>
      <p:sp>
        <p:nvSpPr>
          <p:cNvPr id="1280" name="Right Arrow 1279"/>
          <p:cNvSpPr/>
          <p:nvPr/>
        </p:nvSpPr>
        <p:spPr>
          <a:xfrm>
            <a:off x="4521708" y="2702052"/>
            <a:ext cx="10058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Rounded Rectangle 1280"/>
          <p:cNvSpPr/>
          <p:nvPr/>
        </p:nvSpPr>
        <p:spPr>
          <a:xfrm>
            <a:off x="4640580" y="640080"/>
            <a:ext cx="2103120" cy="420624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Rectangle 1281"/>
          <p:cNvSpPr/>
          <p:nvPr/>
        </p:nvSpPr>
        <p:spPr>
          <a:xfrm>
            <a:off x="4640580" y="640080"/>
            <a:ext cx="210312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TextBox 1282"/>
          <p:cNvSpPr txBox="1"/>
          <p:nvPr/>
        </p:nvSpPr>
        <p:spPr>
          <a:xfrm>
            <a:off x="4750308" y="804672"/>
            <a:ext cx="1920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ourier New"/>
              </a:defRPr>
            </a:pPr>
            <a:r>
              <a:t>spec-tasks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4750308" y="1234440"/>
            <a:ext cx="19202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Break design into</a:t>
            </a:r>
            <a:br/>
            <a:r>
              <a:t>implementable tasks</a:t>
            </a:r>
          </a:p>
        </p:txBody>
      </p:sp>
      <p:sp>
        <p:nvSpPr>
          <p:cNvPr id="1285" name="Rounded Rectangle 1284"/>
          <p:cNvSpPr/>
          <p:nvPr/>
        </p:nvSpPr>
        <p:spPr>
          <a:xfrm>
            <a:off x="4732020" y="2286000"/>
            <a:ext cx="1920240" cy="2450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TextBox 1285"/>
          <p:cNvSpPr txBox="1"/>
          <p:nvPr/>
        </p:nvSpPr>
        <p:spPr>
          <a:xfrm>
            <a:off x="4823460" y="2359152"/>
            <a:ext cx="1783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0050"/>
                </a:solidFill>
                <a:latin typeface="DM Sans"/>
              </a:defRPr>
            </a:pPr>
            <a:r>
              <a:t>Artefacts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4823460" y="2633472"/>
            <a:ext cx="1783080" cy="20665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Courier New"/>
              </a:defRPr>
            </a:pPr>
            <a:r>
              <a:t>tasks.md</a:t>
            </a:r>
            <a:br/>
            <a:r>
              <a:t>dep graph, FR/BR refs</a:t>
            </a:r>
          </a:p>
        </p:txBody>
      </p:sp>
      <p:sp>
        <p:nvSpPr>
          <p:cNvPr id="1288" name="Right Arrow 1287"/>
          <p:cNvSpPr/>
          <p:nvPr/>
        </p:nvSpPr>
        <p:spPr>
          <a:xfrm>
            <a:off x="6761988" y="2702052"/>
            <a:ext cx="10058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Rounded Rectangle 1288"/>
          <p:cNvSpPr/>
          <p:nvPr/>
        </p:nvSpPr>
        <p:spPr>
          <a:xfrm>
            <a:off x="6880860" y="640080"/>
            <a:ext cx="2103120" cy="420624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Rectangle 1289"/>
          <p:cNvSpPr/>
          <p:nvPr/>
        </p:nvSpPr>
        <p:spPr>
          <a:xfrm>
            <a:off x="6880860" y="640080"/>
            <a:ext cx="2103120" cy="381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TextBox 1290"/>
          <p:cNvSpPr txBox="1"/>
          <p:nvPr/>
        </p:nvSpPr>
        <p:spPr>
          <a:xfrm>
            <a:off x="6990588" y="804672"/>
            <a:ext cx="1920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ourier New"/>
              </a:defRPr>
            </a:pPr>
            <a:r>
              <a:t>spec-impl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6990588" y="1234440"/>
            <a:ext cx="19202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Implement each task</a:t>
            </a:r>
            <a:br/>
            <a:r>
              <a:t>with TDD/BDD</a:t>
            </a:r>
          </a:p>
        </p:txBody>
      </p:sp>
      <p:sp>
        <p:nvSpPr>
          <p:cNvPr id="1293" name="Rounded Rectangle 1292"/>
          <p:cNvSpPr/>
          <p:nvPr/>
        </p:nvSpPr>
        <p:spPr>
          <a:xfrm>
            <a:off x="6972300" y="2286000"/>
            <a:ext cx="1920240" cy="2450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Box 1293"/>
          <p:cNvSpPr txBox="1"/>
          <p:nvPr/>
        </p:nvSpPr>
        <p:spPr>
          <a:xfrm>
            <a:off x="7063740" y="2359152"/>
            <a:ext cx="1783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0050"/>
                </a:solidFill>
                <a:latin typeface="DM Sans"/>
              </a:defRPr>
            </a:pPr>
            <a:r>
              <a:t>Artefacts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7063740" y="2633472"/>
            <a:ext cx="1783080" cy="20665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Courier New"/>
              </a:defRPr>
            </a:pPr>
            <a:r>
              <a:t>source code</a:t>
            </a:r>
            <a:br/>
            <a:r>
              <a:t>unit tests, commits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SDD: spec-requirements &amp; spec-design</a:t>
            </a:r>
          </a:p>
        </p:txBody>
      </p:sp>
      <p:sp>
        <p:nvSpPr>
          <p:cNvPr id="1265" name="Rounded Rectangle 1264"/>
          <p:cNvSpPr/>
          <p:nvPr/>
        </p:nvSpPr>
        <p:spPr>
          <a:xfrm>
            <a:off x="274320" y="621792"/>
            <a:ext cx="4297680" cy="43434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384048" y="731520"/>
            <a:ext cx="2926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spec-requirements</a:t>
            </a:r>
          </a:p>
        </p:txBody>
      </p:sp>
      <p:sp>
        <p:nvSpPr>
          <p:cNvPr id="1267" name="Rounded Rectangle 1266"/>
          <p:cNvSpPr/>
          <p:nvPr/>
        </p:nvSpPr>
        <p:spPr>
          <a:xfrm>
            <a:off x="365760" y="118872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Rectangle 1267"/>
          <p:cNvSpPr/>
          <p:nvPr/>
        </p:nvSpPr>
        <p:spPr>
          <a:xfrm>
            <a:off x="365760" y="118872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438912" y="146710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TextBox 1269"/>
          <p:cNvSpPr txBox="1"/>
          <p:nvPr/>
        </p:nvSpPr>
        <p:spPr>
          <a:xfrm>
            <a:off x="548640" y="120700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Read steering files</a:t>
            </a:r>
            <a:br/>
            <a:r>
              <a:t>project context + feature requirements</a:t>
            </a:r>
          </a:p>
        </p:txBody>
      </p:sp>
      <p:sp>
        <p:nvSpPr>
          <p:cNvPr id="1271" name="Down Arrow 1270"/>
          <p:cNvSpPr/>
          <p:nvPr/>
        </p:nvSpPr>
        <p:spPr>
          <a:xfrm>
            <a:off x="2382012" y="184708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Rounded Rectangle 1271"/>
          <p:cNvSpPr/>
          <p:nvPr/>
        </p:nvSpPr>
        <p:spPr>
          <a:xfrm>
            <a:off x="365760" y="201168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Rectangle 1272"/>
          <p:cNvSpPr/>
          <p:nvPr/>
        </p:nvSpPr>
        <p:spPr>
          <a:xfrm>
            <a:off x="365760" y="201168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438912" y="229006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548640" y="202996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Generate EARS-format requirements</a:t>
            </a:r>
            <a:br/>
            <a:r>
              <a:t>functional + non-functional specs</a:t>
            </a:r>
          </a:p>
        </p:txBody>
      </p:sp>
      <p:sp>
        <p:nvSpPr>
          <p:cNvPr id="1276" name="Down Arrow 1275"/>
          <p:cNvSpPr/>
          <p:nvPr/>
        </p:nvSpPr>
        <p:spPr>
          <a:xfrm>
            <a:off x="2382012" y="267004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Rounded Rectangle 1276"/>
          <p:cNvSpPr/>
          <p:nvPr/>
        </p:nvSpPr>
        <p:spPr>
          <a:xfrm>
            <a:off x="365760" y="283464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Rectangle 1277"/>
          <p:cNvSpPr/>
          <p:nvPr/>
        </p:nvSpPr>
        <p:spPr>
          <a:xfrm>
            <a:off x="365760" y="283464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438912" y="311302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TextBox 1279"/>
          <p:cNvSpPr txBox="1"/>
          <p:nvPr/>
        </p:nvSpPr>
        <p:spPr>
          <a:xfrm>
            <a:off x="548640" y="285292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Document design discoveries</a:t>
            </a:r>
            <a:br/>
            <a:r>
              <a:t>schema, patterns, constraints</a:t>
            </a:r>
          </a:p>
        </p:txBody>
      </p:sp>
      <p:sp>
        <p:nvSpPr>
          <p:cNvPr id="1281" name="Down Arrow 1280"/>
          <p:cNvSpPr/>
          <p:nvPr/>
        </p:nvSpPr>
        <p:spPr>
          <a:xfrm>
            <a:off x="2382012" y="349300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Rounded Rectangle 1281"/>
          <p:cNvSpPr/>
          <p:nvPr/>
        </p:nvSpPr>
        <p:spPr>
          <a:xfrm>
            <a:off x="365760" y="365760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Rectangle 1282"/>
          <p:cNvSpPr/>
          <p:nvPr/>
        </p:nvSpPr>
        <p:spPr>
          <a:xfrm>
            <a:off x="365760" y="3657600"/>
            <a:ext cx="254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438912" y="3935984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TextBox 1284"/>
          <p:cNvSpPr txBox="1"/>
          <p:nvPr/>
        </p:nvSpPr>
        <p:spPr>
          <a:xfrm>
            <a:off x="548640" y="367588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Developer reviews requirements.md</a:t>
            </a:r>
          </a:p>
        </p:txBody>
      </p:sp>
      <p:sp>
        <p:nvSpPr>
          <p:cNvPr id="1286" name="Rounded Rectangle 1285"/>
          <p:cNvSpPr/>
          <p:nvPr/>
        </p:nvSpPr>
        <p:spPr>
          <a:xfrm>
            <a:off x="365760" y="4599432"/>
            <a:ext cx="4114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457200" y="4645152"/>
            <a:ext cx="3977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Courier New"/>
              </a:defRPr>
            </a:pPr>
            <a:r>
              <a:t>output: requirements.md + research.md</a:t>
            </a:r>
          </a:p>
        </p:txBody>
      </p:sp>
      <p:sp>
        <p:nvSpPr>
          <p:cNvPr id="1288" name="Rounded Rectangle 1287"/>
          <p:cNvSpPr/>
          <p:nvPr/>
        </p:nvSpPr>
        <p:spPr>
          <a:xfrm>
            <a:off x="4590288" y="621792"/>
            <a:ext cx="4297680" cy="43434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TextBox 1288"/>
          <p:cNvSpPr txBox="1"/>
          <p:nvPr/>
        </p:nvSpPr>
        <p:spPr>
          <a:xfrm>
            <a:off x="4700016" y="731520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spec-design</a:t>
            </a:r>
          </a:p>
        </p:txBody>
      </p:sp>
      <p:sp>
        <p:nvSpPr>
          <p:cNvPr id="1290" name="Rounded Rectangle 1289"/>
          <p:cNvSpPr/>
          <p:nvPr/>
        </p:nvSpPr>
        <p:spPr>
          <a:xfrm>
            <a:off x="4681728" y="118872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Rectangle 1290"/>
          <p:cNvSpPr/>
          <p:nvPr/>
        </p:nvSpPr>
        <p:spPr>
          <a:xfrm>
            <a:off x="4681728" y="118872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4754880" y="146710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4864608" y="120700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Read ALL steering files</a:t>
            </a:r>
            <a:br/>
            <a:r>
              <a:t>Architecture constraints</a:t>
            </a:r>
          </a:p>
        </p:txBody>
      </p:sp>
      <p:sp>
        <p:nvSpPr>
          <p:cNvPr id="1294" name="Down Arrow 1293"/>
          <p:cNvSpPr/>
          <p:nvPr/>
        </p:nvSpPr>
        <p:spPr>
          <a:xfrm>
            <a:off x="6697980" y="184708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Rounded Rectangle 1294"/>
          <p:cNvSpPr/>
          <p:nvPr/>
        </p:nvSpPr>
        <p:spPr>
          <a:xfrm>
            <a:off x="4681728" y="201168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Rectangle 1295"/>
          <p:cNvSpPr/>
          <p:nvPr/>
        </p:nvSpPr>
        <p:spPr>
          <a:xfrm>
            <a:off x="4681728" y="201168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4754880" y="229006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TextBox 1297"/>
          <p:cNvSpPr txBox="1"/>
          <p:nvPr/>
        </p:nvSpPr>
        <p:spPr>
          <a:xfrm>
            <a:off x="4864608" y="202996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Analyse FRs → components</a:t>
            </a:r>
            <a:br/>
            <a:r>
              <a:t>APIs, data models</a:t>
            </a:r>
          </a:p>
        </p:txBody>
      </p:sp>
      <p:sp>
        <p:nvSpPr>
          <p:cNvPr id="1299" name="Down Arrow 1298"/>
          <p:cNvSpPr/>
          <p:nvPr/>
        </p:nvSpPr>
        <p:spPr>
          <a:xfrm>
            <a:off x="6697980" y="267004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Rounded Rectangle 1299"/>
          <p:cNvSpPr/>
          <p:nvPr/>
        </p:nvSpPr>
        <p:spPr>
          <a:xfrm>
            <a:off x="4681728" y="283464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Rectangle 1300"/>
          <p:cNvSpPr/>
          <p:nvPr/>
        </p:nvSpPr>
        <p:spPr>
          <a:xfrm>
            <a:off x="4681728" y="283464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4754880" y="311302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4864608" y="285292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Generate design.md</a:t>
            </a:r>
            <a:br/>
            <a:r>
              <a:t>Architecture decisions</a:t>
            </a:r>
          </a:p>
        </p:txBody>
      </p:sp>
      <p:sp>
        <p:nvSpPr>
          <p:cNvPr id="1304" name="Down Arrow 1303"/>
          <p:cNvSpPr/>
          <p:nvPr/>
        </p:nvSpPr>
        <p:spPr>
          <a:xfrm>
            <a:off x="6697980" y="349300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Rounded Rectangle 1304"/>
          <p:cNvSpPr/>
          <p:nvPr/>
        </p:nvSpPr>
        <p:spPr>
          <a:xfrm>
            <a:off x="4681728" y="365760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4681728" y="3657600"/>
            <a:ext cx="254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4754880" y="3935984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TextBox 1307"/>
          <p:cNvSpPr txBox="1"/>
          <p:nvPr/>
        </p:nvSpPr>
        <p:spPr>
          <a:xfrm>
            <a:off x="4864608" y="367588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Developer reviews design.md</a:t>
            </a:r>
            <a:br/>
            <a:r>
              <a:t>FR/BR coverage, compliance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7516368" y="3401568"/>
            <a:ext cx="1188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DM Sans"/>
              </a:defRPr>
            </a:pPr>
            <a:r>
              <a:t>↩ rejected? redo</a:t>
            </a:r>
          </a:p>
        </p:txBody>
      </p:sp>
      <p:sp>
        <p:nvSpPr>
          <p:cNvPr id="1310" name="Rounded Rectangle 1309"/>
          <p:cNvSpPr/>
          <p:nvPr/>
        </p:nvSpPr>
        <p:spPr>
          <a:xfrm>
            <a:off x="4681728" y="4599432"/>
            <a:ext cx="4114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TextBox 1310"/>
          <p:cNvSpPr txBox="1"/>
          <p:nvPr/>
        </p:nvSpPr>
        <p:spPr>
          <a:xfrm>
            <a:off x="4773168" y="4645152"/>
            <a:ext cx="3977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Courier New"/>
              </a:defRPr>
            </a:pPr>
            <a:r>
              <a:t>output: design.md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SDD: spec-tasks &amp; spec-impl</a:t>
            </a:r>
          </a:p>
        </p:txBody>
      </p:sp>
      <p:sp>
        <p:nvSpPr>
          <p:cNvPr id="1265" name="Rounded Rectangle 1264"/>
          <p:cNvSpPr/>
          <p:nvPr/>
        </p:nvSpPr>
        <p:spPr>
          <a:xfrm>
            <a:off x="274320" y="621792"/>
            <a:ext cx="4297680" cy="43434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384048" y="731520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spec-tasks</a:t>
            </a:r>
          </a:p>
        </p:txBody>
      </p:sp>
      <p:sp>
        <p:nvSpPr>
          <p:cNvPr id="1267" name="Rounded Rectangle 1266"/>
          <p:cNvSpPr/>
          <p:nvPr/>
        </p:nvSpPr>
        <p:spPr>
          <a:xfrm>
            <a:off x="365760" y="118872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Rectangle 1267"/>
          <p:cNvSpPr/>
          <p:nvPr/>
        </p:nvSpPr>
        <p:spPr>
          <a:xfrm>
            <a:off x="365760" y="118872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438912" y="146710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TextBox 1269"/>
          <p:cNvSpPr txBox="1"/>
          <p:nvPr/>
        </p:nvSpPr>
        <p:spPr>
          <a:xfrm>
            <a:off x="548640" y="120700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Read design.md, extract units</a:t>
            </a:r>
          </a:p>
        </p:txBody>
      </p:sp>
      <p:sp>
        <p:nvSpPr>
          <p:cNvPr id="1271" name="Down Arrow 1270"/>
          <p:cNvSpPr/>
          <p:nvPr/>
        </p:nvSpPr>
        <p:spPr>
          <a:xfrm>
            <a:off x="2382012" y="184708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Rounded Rectangle 1271"/>
          <p:cNvSpPr/>
          <p:nvPr/>
        </p:nvSpPr>
        <p:spPr>
          <a:xfrm>
            <a:off x="365760" y="201168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Rectangle 1272"/>
          <p:cNvSpPr/>
          <p:nvPr/>
        </p:nvSpPr>
        <p:spPr>
          <a:xfrm>
            <a:off x="365760" y="201168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438912" y="229006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548640" y="202996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Break into atomic tasks</a:t>
            </a:r>
            <a:br/>
            <a:r>
              <a:t>Each: Requirements: FR-xxx, BR-xxx</a:t>
            </a:r>
          </a:p>
        </p:txBody>
      </p:sp>
      <p:sp>
        <p:nvSpPr>
          <p:cNvPr id="1276" name="Down Arrow 1275"/>
          <p:cNvSpPr/>
          <p:nvPr/>
        </p:nvSpPr>
        <p:spPr>
          <a:xfrm>
            <a:off x="2382012" y="267004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Rounded Rectangle 1276"/>
          <p:cNvSpPr/>
          <p:nvPr/>
        </p:nvSpPr>
        <p:spPr>
          <a:xfrm>
            <a:off x="365760" y="283464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Rectangle 1277"/>
          <p:cNvSpPr/>
          <p:nvPr/>
        </p:nvSpPr>
        <p:spPr>
          <a:xfrm>
            <a:off x="365760" y="2834640"/>
            <a:ext cx="25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438912" y="311302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TextBox 1279"/>
          <p:cNvSpPr txBox="1"/>
          <p:nvPr/>
        </p:nvSpPr>
        <p:spPr>
          <a:xfrm>
            <a:off x="548640" y="285292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Build dependency graph</a:t>
            </a:r>
          </a:p>
        </p:txBody>
      </p:sp>
      <p:sp>
        <p:nvSpPr>
          <p:cNvPr id="1281" name="Down Arrow 1280"/>
          <p:cNvSpPr/>
          <p:nvPr/>
        </p:nvSpPr>
        <p:spPr>
          <a:xfrm>
            <a:off x="2382012" y="3493008"/>
            <a:ext cx="82296" cy="164592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Rounded Rectangle 1281"/>
          <p:cNvSpPr/>
          <p:nvPr/>
        </p:nvSpPr>
        <p:spPr>
          <a:xfrm>
            <a:off x="365760" y="3657600"/>
            <a:ext cx="4114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Rectangle 1282"/>
          <p:cNvSpPr/>
          <p:nvPr/>
        </p:nvSpPr>
        <p:spPr>
          <a:xfrm>
            <a:off x="365760" y="3657600"/>
            <a:ext cx="25400" cy="65836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438912" y="3935984"/>
            <a:ext cx="101600" cy="1016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TextBox 1284"/>
          <p:cNvSpPr txBox="1"/>
          <p:nvPr/>
        </p:nvSpPr>
        <p:spPr>
          <a:xfrm>
            <a:off x="548640" y="3675888"/>
            <a:ext cx="38862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Developer reviews tasks.md</a:t>
            </a:r>
          </a:p>
        </p:txBody>
      </p:sp>
      <p:sp>
        <p:nvSpPr>
          <p:cNvPr id="1286" name="Rounded Rectangle 1285"/>
          <p:cNvSpPr/>
          <p:nvPr/>
        </p:nvSpPr>
        <p:spPr>
          <a:xfrm>
            <a:off x="365760" y="4599432"/>
            <a:ext cx="4114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457200" y="4645152"/>
            <a:ext cx="3977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Courier New"/>
              </a:defRPr>
            </a:pPr>
            <a:r>
              <a:t>output: tasks.md (ordered, FR/BR linked)</a:t>
            </a:r>
          </a:p>
        </p:txBody>
      </p:sp>
      <p:sp>
        <p:nvSpPr>
          <p:cNvPr id="1288" name="Rounded Rectangle 1287"/>
          <p:cNvSpPr/>
          <p:nvPr/>
        </p:nvSpPr>
        <p:spPr>
          <a:xfrm>
            <a:off x="4590288" y="621792"/>
            <a:ext cx="4297680" cy="43434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TextBox 1288"/>
          <p:cNvSpPr txBox="1"/>
          <p:nvPr/>
        </p:nvSpPr>
        <p:spPr>
          <a:xfrm>
            <a:off x="4700016" y="731520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spec-impl</a:t>
            </a:r>
          </a:p>
        </p:txBody>
      </p:sp>
      <p:sp>
        <p:nvSpPr>
          <p:cNvPr id="1290" name="Rounded Rectangle 1289"/>
          <p:cNvSpPr/>
          <p:nvPr/>
        </p:nvSpPr>
        <p:spPr>
          <a:xfrm>
            <a:off x="4681728" y="1188720"/>
            <a:ext cx="3291840" cy="51206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Rectangle 1290"/>
          <p:cNvSpPr/>
          <p:nvPr/>
        </p:nvSpPr>
        <p:spPr>
          <a:xfrm>
            <a:off x="4681728" y="1188720"/>
            <a:ext cx="2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4754880" y="1393952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4864608" y="1207008"/>
            <a:ext cx="30632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Pick next task</a:t>
            </a:r>
          </a:p>
        </p:txBody>
      </p:sp>
      <p:sp>
        <p:nvSpPr>
          <p:cNvPr id="1294" name="Down Arrow 1293"/>
          <p:cNvSpPr/>
          <p:nvPr/>
        </p:nvSpPr>
        <p:spPr>
          <a:xfrm>
            <a:off x="6286500" y="1700784"/>
            <a:ext cx="82296" cy="109728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Rounded Rectangle 1294"/>
          <p:cNvSpPr/>
          <p:nvPr/>
        </p:nvSpPr>
        <p:spPr>
          <a:xfrm>
            <a:off x="4681728" y="1810512"/>
            <a:ext cx="3291840" cy="51206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Rectangle 1295"/>
          <p:cNvSpPr/>
          <p:nvPr/>
        </p:nvSpPr>
        <p:spPr>
          <a:xfrm>
            <a:off x="4681728" y="1810512"/>
            <a:ext cx="2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4754880" y="2015744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TextBox 1297"/>
          <p:cNvSpPr txBox="1"/>
          <p:nvPr/>
        </p:nvSpPr>
        <p:spPr>
          <a:xfrm>
            <a:off x="4864608" y="1828800"/>
            <a:ext cx="30632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Write tests first (TDD)</a:t>
            </a:r>
          </a:p>
        </p:txBody>
      </p:sp>
      <p:sp>
        <p:nvSpPr>
          <p:cNvPr id="1299" name="Down Arrow 1298"/>
          <p:cNvSpPr/>
          <p:nvPr/>
        </p:nvSpPr>
        <p:spPr>
          <a:xfrm>
            <a:off x="6286500" y="2322576"/>
            <a:ext cx="82296" cy="109728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Rounded Rectangle 1299"/>
          <p:cNvSpPr/>
          <p:nvPr/>
        </p:nvSpPr>
        <p:spPr>
          <a:xfrm>
            <a:off x="4681728" y="2432304"/>
            <a:ext cx="3291840" cy="51206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Rectangle 1300"/>
          <p:cNvSpPr/>
          <p:nvPr/>
        </p:nvSpPr>
        <p:spPr>
          <a:xfrm>
            <a:off x="4681728" y="2432304"/>
            <a:ext cx="2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4754880" y="2637536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4864608" y="2450592"/>
            <a:ext cx="30632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Implement to pass</a:t>
            </a:r>
          </a:p>
        </p:txBody>
      </p:sp>
      <p:sp>
        <p:nvSpPr>
          <p:cNvPr id="1304" name="Down Arrow 1303"/>
          <p:cNvSpPr/>
          <p:nvPr/>
        </p:nvSpPr>
        <p:spPr>
          <a:xfrm>
            <a:off x="6286500" y="2944368"/>
            <a:ext cx="82296" cy="109728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Rounded Rectangle 1304"/>
          <p:cNvSpPr/>
          <p:nvPr/>
        </p:nvSpPr>
        <p:spPr>
          <a:xfrm>
            <a:off x="4681728" y="3054096"/>
            <a:ext cx="3291840" cy="51206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4681728" y="3054096"/>
            <a:ext cx="2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4754880" y="3259328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TextBox 1307"/>
          <p:cNvSpPr txBox="1"/>
          <p:nvPr/>
        </p:nvSpPr>
        <p:spPr>
          <a:xfrm>
            <a:off x="4864608" y="3072384"/>
            <a:ext cx="30632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Atomic commit</a:t>
            </a:r>
          </a:p>
        </p:txBody>
      </p:sp>
      <p:sp>
        <p:nvSpPr>
          <p:cNvPr id="1309" name="Down Arrow 1308"/>
          <p:cNvSpPr/>
          <p:nvPr/>
        </p:nvSpPr>
        <p:spPr>
          <a:xfrm>
            <a:off x="6286500" y="3566160"/>
            <a:ext cx="82296" cy="109728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Rounded Rectangle 1309"/>
          <p:cNvSpPr/>
          <p:nvPr/>
        </p:nvSpPr>
        <p:spPr>
          <a:xfrm>
            <a:off x="4681728" y="3675888"/>
            <a:ext cx="3291840" cy="51206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Rectangle 1310"/>
          <p:cNvSpPr/>
          <p:nvPr/>
        </p:nvSpPr>
        <p:spPr>
          <a:xfrm>
            <a:off x="4681728" y="3675888"/>
            <a:ext cx="25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4754880" y="388112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TextBox 1312"/>
          <p:cNvSpPr txBox="1"/>
          <p:nvPr/>
        </p:nvSpPr>
        <p:spPr>
          <a:xfrm>
            <a:off x="4864608" y="3694176"/>
            <a:ext cx="30632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validate-gap: check coverage</a:t>
            </a:r>
          </a:p>
        </p:txBody>
      </p:sp>
      <p:sp>
        <p:nvSpPr>
          <p:cNvPr id="1314" name="Rounded Rectangle 1313"/>
          <p:cNvSpPr/>
          <p:nvPr/>
        </p:nvSpPr>
        <p:spPr>
          <a:xfrm>
            <a:off x="7927848" y="1280160"/>
            <a:ext cx="658368" cy="2999232"/>
          </a:xfrm>
          <a:prstGeom prst="roundRect">
            <a:avLst/>
          </a:prstGeom>
          <a:solidFill>
            <a:srgbClr val="FAB9FF"/>
          </a:solidFill>
          <a:ln w="12700">
            <a:solidFill>
              <a:srgbClr val="FA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7964424" y="1371600"/>
            <a:ext cx="585216" cy="28620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DM Sans"/>
              </a:defRPr>
            </a:pPr>
            <a:r>
              <a:t>↻</a:t>
            </a:r>
            <a:br/>
            <a:br/>
            <a:r>
              <a:t>Repeat</a:t>
            </a:r>
            <a:br/>
            <a:r>
              <a:t>for each</a:t>
            </a:r>
            <a:br/>
            <a:r>
              <a:t>task</a:t>
            </a:r>
          </a:p>
        </p:txBody>
      </p:sp>
      <p:sp>
        <p:nvSpPr>
          <p:cNvPr id="1316" name="TextBox 1315"/>
          <p:cNvSpPr txBox="1"/>
          <p:nvPr/>
        </p:nvSpPr>
        <p:spPr>
          <a:xfrm>
            <a:off x="4700016" y="4617720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✔ clean → raise PR</a:t>
            </a:r>
          </a:p>
        </p:txBody>
      </p:sp>
      <p:sp>
        <p:nvSpPr>
          <p:cNvPr id="1317" name="TextBox 1316"/>
          <p:cNvSpPr txBox="1"/>
          <p:nvPr/>
        </p:nvSpPr>
        <p:spPr>
          <a:xfrm>
            <a:off x="6601968" y="461772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✘ gaps → back to impl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What the Output Looks Like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274320" y="56692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Real artefacts from the SDD pipeline.</a:t>
            </a:r>
          </a:p>
        </p:txBody>
      </p:sp>
      <p:sp>
        <p:nvSpPr>
          <p:cNvPr id="1266" name="Rounded Rectangle 1265"/>
          <p:cNvSpPr/>
          <p:nvPr/>
        </p:nvSpPr>
        <p:spPr>
          <a:xfrm>
            <a:off x="182880" y="896112"/>
            <a:ext cx="2834640" cy="416052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Rectangle 1266"/>
          <p:cNvSpPr/>
          <p:nvPr/>
        </p:nvSpPr>
        <p:spPr>
          <a:xfrm>
            <a:off x="182880" y="896112"/>
            <a:ext cx="283464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TextBox 1267"/>
          <p:cNvSpPr txBox="1"/>
          <p:nvPr/>
        </p:nvSpPr>
        <p:spPr>
          <a:xfrm>
            <a:off x="320040" y="1024128"/>
            <a:ext cx="2606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M Sans"/>
              </a:defRPr>
            </a:pPr>
            <a:r>
              <a:t>requirements.md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320040" y="1371600"/>
            <a:ext cx="2606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Courier New"/>
              </a:defRPr>
            </a:pPr>
            <a:r>
              <a:t>.sdd/specs/feature/requirements.md</a:t>
            </a:r>
          </a:p>
        </p:txBody>
      </p:sp>
      <p:sp>
        <p:nvSpPr>
          <p:cNvPr id="1270" name="Rounded Rectangle 1269"/>
          <p:cNvSpPr/>
          <p:nvPr/>
        </p:nvSpPr>
        <p:spPr>
          <a:xfrm>
            <a:off x="274320" y="1664208"/>
            <a:ext cx="2651760" cy="32826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TextBox 1270"/>
          <p:cNvSpPr txBox="1"/>
          <p:nvPr/>
        </p:nvSpPr>
        <p:spPr>
          <a:xfrm>
            <a:off x="347472" y="1755648"/>
            <a:ext cx="2505456" cy="3136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Courier New"/>
              </a:defRPr>
            </a:pPr>
            <a:r>
              <a:t># Requirements (EARS)</a:t>
            </a:r>
            <a:br/>
            <a:r>
              <a:t>## Functional Requirements</a:t>
            </a:r>
            <a:br/>
            <a:r>
              <a:t>When admin creates incident,</a:t>
            </a:r>
            <a:br/>
            <a:r>
              <a:t>  system shall assign FS-ID</a:t>
            </a:r>
            <a:br/>
            <a:r>
              <a:t>## Business Rules</a:t>
            </a:r>
            <a:br/>
            <a:r>
              <a:t>While incident is open,</a:t>
            </a:r>
            <a:br/>
            <a:r>
              <a:t>  only admin shall modify</a:t>
            </a:r>
            <a:br/>
            <a:r>
              <a:t>## Research &amp; Discoveries</a:t>
            </a:r>
            <a:br/>
            <a:r>
              <a:t>Schema: dealership_code...</a:t>
            </a:r>
          </a:p>
        </p:txBody>
      </p:sp>
      <p:sp>
        <p:nvSpPr>
          <p:cNvPr id="1272" name="Rounded Rectangle 1271"/>
          <p:cNvSpPr/>
          <p:nvPr/>
        </p:nvSpPr>
        <p:spPr>
          <a:xfrm>
            <a:off x="3154680" y="896112"/>
            <a:ext cx="2834640" cy="416052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Rectangle 1272"/>
          <p:cNvSpPr/>
          <p:nvPr/>
        </p:nvSpPr>
        <p:spPr>
          <a:xfrm>
            <a:off x="3154680" y="896112"/>
            <a:ext cx="2834640" cy="381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TextBox 1273"/>
          <p:cNvSpPr txBox="1"/>
          <p:nvPr/>
        </p:nvSpPr>
        <p:spPr>
          <a:xfrm>
            <a:off x="3291840" y="1024128"/>
            <a:ext cx="2606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M Sans"/>
              </a:defRPr>
            </a:pPr>
            <a:r>
              <a:t>design.md</a:t>
            </a:r>
          </a:p>
        </p:txBody>
      </p:sp>
      <p:sp>
        <p:nvSpPr>
          <p:cNvPr id="1275" name="TextBox 1274"/>
          <p:cNvSpPr txBox="1"/>
          <p:nvPr/>
        </p:nvSpPr>
        <p:spPr>
          <a:xfrm>
            <a:off x="3291840" y="1371600"/>
            <a:ext cx="2606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Courier New"/>
              </a:defRPr>
            </a:pPr>
            <a:r>
              <a:t>.sdd/specs/feature/design.md</a:t>
            </a:r>
          </a:p>
        </p:txBody>
      </p:sp>
      <p:sp>
        <p:nvSpPr>
          <p:cNvPr id="1276" name="Rounded Rectangle 1275"/>
          <p:cNvSpPr/>
          <p:nvPr/>
        </p:nvSpPr>
        <p:spPr>
          <a:xfrm>
            <a:off x="3246120" y="1664208"/>
            <a:ext cx="2651760" cy="32826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TextBox 1276"/>
          <p:cNvSpPr txBox="1"/>
          <p:nvPr/>
        </p:nvSpPr>
        <p:spPr>
          <a:xfrm>
            <a:off x="3319272" y="1755648"/>
            <a:ext cx="2505456" cy="3136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Courier New"/>
              </a:defRPr>
            </a:pPr>
            <a:r>
              <a:t># Architecture Design</a:t>
            </a:r>
            <a:br/>
            <a:r>
              <a:t>## API Endpoints</a:t>
            </a:r>
            <a:br/>
            <a:r>
              <a:t>POST /incidents - Create</a:t>
            </a:r>
            <a:br/>
            <a:r>
              <a:t>GET  /incidents - List</a:t>
            </a:r>
            <a:br/>
            <a:r>
              <a:t>## Data Model</a:t>
            </a:r>
            <a:br/>
            <a:r>
              <a:t>incidents: id, type, status</a:t>
            </a:r>
            <a:br/>
            <a:r>
              <a:t>## ADR-001: Use Lambda...</a:t>
            </a:r>
          </a:p>
        </p:txBody>
      </p:sp>
      <p:sp>
        <p:nvSpPr>
          <p:cNvPr id="1278" name="Rounded Rectangle 1277"/>
          <p:cNvSpPr/>
          <p:nvPr/>
        </p:nvSpPr>
        <p:spPr>
          <a:xfrm>
            <a:off x="6126480" y="896112"/>
            <a:ext cx="2834640" cy="416052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Rectangle 1278"/>
          <p:cNvSpPr/>
          <p:nvPr/>
        </p:nvSpPr>
        <p:spPr>
          <a:xfrm>
            <a:off x="6126480" y="896112"/>
            <a:ext cx="283464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TextBox 1279"/>
          <p:cNvSpPr txBox="1"/>
          <p:nvPr/>
        </p:nvSpPr>
        <p:spPr>
          <a:xfrm>
            <a:off x="6263640" y="1024128"/>
            <a:ext cx="2606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M Sans"/>
              </a:defRPr>
            </a:pPr>
            <a:r>
              <a:t>tasks.md</a:t>
            </a:r>
          </a:p>
        </p:txBody>
      </p:sp>
      <p:sp>
        <p:nvSpPr>
          <p:cNvPr id="1281" name="TextBox 1280"/>
          <p:cNvSpPr txBox="1"/>
          <p:nvPr/>
        </p:nvSpPr>
        <p:spPr>
          <a:xfrm>
            <a:off x="6263640" y="1371600"/>
            <a:ext cx="2606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Courier New"/>
              </a:defRPr>
            </a:pPr>
            <a:r>
              <a:t>.sdd/specs/feature/tasks.md</a:t>
            </a:r>
          </a:p>
        </p:txBody>
      </p:sp>
      <p:sp>
        <p:nvSpPr>
          <p:cNvPr id="1282" name="Rounded Rectangle 1281"/>
          <p:cNvSpPr/>
          <p:nvPr/>
        </p:nvSpPr>
        <p:spPr>
          <a:xfrm>
            <a:off x="6217920" y="1664208"/>
            <a:ext cx="2651760" cy="32826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TextBox 1282"/>
          <p:cNvSpPr txBox="1"/>
          <p:nvPr/>
        </p:nvSpPr>
        <p:spPr>
          <a:xfrm>
            <a:off x="6291072" y="1755648"/>
            <a:ext cx="2505456" cy="3136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00050"/>
                </a:solidFill>
                <a:latin typeface="Courier New"/>
              </a:defRPr>
            </a:pPr>
            <a:r>
              <a:t># Implementation Tasks</a:t>
            </a:r>
            <a:br/>
            <a:r>
              <a:t>## Task 1 (FR-001, BR-001)</a:t>
            </a:r>
            <a:br/>
            <a:r>
              <a:t>Create incident endpoint</a:t>
            </a:r>
            <a:br/>
            <a:r>
              <a:t>## Task 2 (FR-002, BR-002)</a:t>
            </a:r>
            <a:br/>
            <a:r>
              <a:t>Assign to dealer endpoint</a:t>
            </a:r>
            <a:br/>
            <a:r>
              <a:t>## Dependencies</a:t>
            </a:r>
            <a:br/>
            <a:r>
              <a:t>Task 2 depends on Task 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Design Patterns</a:t>
            </a:r>
          </a:p>
        </p:txBody>
      </p:sp>
      <p:sp>
        <p:nvSpPr>
          <p:cNvPr id="1265" name="Rounded Rectangle 1264"/>
          <p:cNvSpPr/>
          <p:nvPr/>
        </p:nvSpPr>
        <p:spPr>
          <a:xfrm>
            <a:off x="274320" y="658368"/>
            <a:ext cx="4297680" cy="141732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Rectangle 1265"/>
          <p:cNvSpPr/>
          <p:nvPr/>
        </p:nvSpPr>
        <p:spPr>
          <a:xfrm>
            <a:off x="274320" y="658368"/>
            <a:ext cx="38100" cy="14173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TextBox 1266"/>
          <p:cNvSpPr txBox="1"/>
          <p:nvPr/>
        </p:nvSpPr>
        <p:spPr>
          <a:xfrm>
            <a:off x="411480" y="749808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Steering Files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411480" y="1078992"/>
            <a:ext cx="4114800" cy="9418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Architecture constraints in files agents read. A living constraint system — updated whenever agents encounter failures, not static documentation.</a:t>
            </a:r>
          </a:p>
        </p:txBody>
      </p:sp>
      <p:sp>
        <p:nvSpPr>
          <p:cNvPr id="1269" name="Rounded Rectangle 1268"/>
          <p:cNvSpPr/>
          <p:nvPr/>
        </p:nvSpPr>
        <p:spPr>
          <a:xfrm>
            <a:off x="4864608" y="658368"/>
            <a:ext cx="4297680" cy="141732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Rectangle 1269"/>
          <p:cNvSpPr/>
          <p:nvPr/>
        </p:nvSpPr>
        <p:spPr>
          <a:xfrm>
            <a:off x="4864608" y="658368"/>
            <a:ext cx="38100" cy="141732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TextBox 1270"/>
          <p:cNvSpPr txBox="1"/>
          <p:nvPr/>
        </p:nvSpPr>
        <p:spPr>
          <a:xfrm>
            <a:off x="5001768" y="749808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Plan First</a:t>
            </a:r>
          </a:p>
        </p:txBody>
      </p:sp>
      <p:sp>
        <p:nvSpPr>
          <p:cNvPr id="1272" name="TextBox 1271"/>
          <p:cNvSpPr txBox="1"/>
          <p:nvPr/>
        </p:nvSpPr>
        <p:spPr>
          <a:xfrm>
            <a:off x="5001768" y="1078992"/>
            <a:ext cx="4114800" cy="9418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Agent proposes, human approves. Never act without sign-off. Human remains accountable for every merged change.</a:t>
            </a:r>
          </a:p>
        </p:txBody>
      </p:sp>
      <p:sp>
        <p:nvSpPr>
          <p:cNvPr id="1273" name="Rounded Rectangle 1272"/>
          <p:cNvSpPr/>
          <p:nvPr/>
        </p:nvSpPr>
        <p:spPr>
          <a:xfrm>
            <a:off x="274320" y="2167128"/>
            <a:ext cx="4297680" cy="141732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Rectangle 1273"/>
          <p:cNvSpPr/>
          <p:nvPr/>
        </p:nvSpPr>
        <p:spPr>
          <a:xfrm>
            <a:off x="274320" y="2167128"/>
            <a:ext cx="38100" cy="14173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411480" y="2258568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Progressive Disclosure</a:t>
            </a:r>
          </a:p>
        </p:txBody>
      </p:sp>
      <p:sp>
        <p:nvSpPr>
          <p:cNvPr id="1276" name="TextBox 1275"/>
          <p:cNvSpPr txBox="1"/>
          <p:nvPr/>
        </p:nvSpPr>
        <p:spPr>
          <a:xfrm>
            <a:off x="411480" y="2587752"/>
            <a:ext cx="4114800" cy="9418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Only show the agent what it needs at each stage. Every token in context competes with task context — less noise, fewer errors.</a:t>
            </a:r>
          </a:p>
        </p:txBody>
      </p:sp>
      <p:sp>
        <p:nvSpPr>
          <p:cNvPr id="1277" name="Rounded Rectangle 1276"/>
          <p:cNvSpPr/>
          <p:nvPr/>
        </p:nvSpPr>
        <p:spPr>
          <a:xfrm>
            <a:off x="4864608" y="2167128"/>
            <a:ext cx="4297680" cy="141732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Rectangle 1277"/>
          <p:cNvSpPr/>
          <p:nvPr/>
        </p:nvSpPr>
        <p:spPr>
          <a:xfrm>
            <a:off x="4864608" y="2167128"/>
            <a:ext cx="38100" cy="141732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TextBox 1278"/>
          <p:cNvSpPr txBox="1"/>
          <p:nvPr/>
        </p:nvSpPr>
        <p:spPr>
          <a:xfrm>
            <a:off x="5001768" y="2258568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TDD / BDD</a:t>
            </a:r>
          </a:p>
        </p:txBody>
      </p:sp>
      <p:sp>
        <p:nvSpPr>
          <p:cNvPr id="1280" name="TextBox 1279"/>
          <p:cNvSpPr txBox="1"/>
          <p:nvPr/>
        </p:nvSpPr>
        <p:spPr>
          <a:xfrm>
            <a:off x="5001768" y="2587752"/>
            <a:ext cx="4114800" cy="9418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Tests are the source of truth. Write tests first, implement to pass. Documentation that isn’t mechanically enforced will drift.</a:t>
            </a:r>
          </a:p>
        </p:txBody>
      </p:sp>
      <p:sp>
        <p:nvSpPr>
          <p:cNvPr id="1281" name="Rounded Rectangle 1280"/>
          <p:cNvSpPr/>
          <p:nvPr/>
        </p:nvSpPr>
        <p:spPr>
          <a:xfrm>
            <a:off x="274320" y="3675888"/>
            <a:ext cx="4297680" cy="141732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Rectangle 1281"/>
          <p:cNvSpPr/>
          <p:nvPr/>
        </p:nvSpPr>
        <p:spPr>
          <a:xfrm>
            <a:off x="274320" y="3675888"/>
            <a:ext cx="38100" cy="14173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TextBox 1282"/>
          <p:cNvSpPr txBox="1"/>
          <p:nvPr/>
        </p:nvSpPr>
        <p:spPr>
          <a:xfrm>
            <a:off x="411480" y="3767328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Atomic Commits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411480" y="4096512"/>
            <a:ext cx="4114800" cy="9418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Each commit = one logical change, one recovery point. Git is cognitive scaffolding — not just source management.</a:t>
            </a:r>
          </a:p>
        </p:txBody>
      </p:sp>
      <p:sp>
        <p:nvSpPr>
          <p:cNvPr id="1285" name="Rounded Rectangle 1284"/>
          <p:cNvSpPr/>
          <p:nvPr/>
        </p:nvSpPr>
        <p:spPr>
          <a:xfrm>
            <a:off x="4864608" y="3675888"/>
            <a:ext cx="4297680" cy="141732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Rectangle 1285"/>
          <p:cNvSpPr/>
          <p:nvPr/>
        </p:nvSpPr>
        <p:spPr>
          <a:xfrm>
            <a:off x="4864608" y="3675888"/>
            <a:ext cx="38100" cy="141732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5001768" y="3767328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Iterate on the Harness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5001768" y="4096512"/>
            <a:ext cx="4114800" cy="9418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When agents keep making the same mistake, that’s feedback on the environment, not the agent. Improve the system, not just the output.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Orchestration: Opus + Sonnet</a:t>
            </a:r>
          </a:p>
        </p:txBody>
      </p:sp>
      <p:sp>
        <p:nvSpPr>
          <p:cNvPr id="1265" name="Rounded Rectangle 1264"/>
          <p:cNvSpPr/>
          <p:nvPr/>
        </p:nvSpPr>
        <p:spPr>
          <a:xfrm>
            <a:off x="2011680" y="502920"/>
            <a:ext cx="5029200" cy="502920"/>
          </a:xfrm>
          <a:prstGeom prst="roundRect">
            <a:avLst/>
          </a:prstGeom>
          <a:solidFill>
            <a:srgbClr val="000050"/>
          </a:solidFill>
          <a:ln w="19050">
            <a:solidFill>
              <a:srgbClr val="00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2148840" y="53035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Opus — Orchestrator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2148840" y="758952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Break down work · Organise task waves · Set context for workers</a:t>
            </a:r>
          </a:p>
        </p:txBody>
      </p:sp>
      <p:sp>
        <p:nvSpPr>
          <p:cNvPr id="1268" name="Down Arrow 1267"/>
          <p:cNvSpPr/>
          <p:nvPr/>
        </p:nvSpPr>
        <p:spPr>
          <a:xfrm>
            <a:off x="1650492" y="1024128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Down Arrow 1268"/>
          <p:cNvSpPr/>
          <p:nvPr/>
        </p:nvSpPr>
        <p:spPr>
          <a:xfrm>
            <a:off x="3113532" y="1024128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Down Arrow 1269"/>
          <p:cNvSpPr/>
          <p:nvPr/>
        </p:nvSpPr>
        <p:spPr>
          <a:xfrm>
            <a:off x="4576572" y="1024128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Down Arrow 1270"/>
          <p:cNvSpPr/>
          <p:nvPr/>
        </p:nvSpPr>
        <p:spPr>
          <a:xfrm>
            <a:off x="6039612" y="1024128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Down Arrow 1271"/>
          <p:cNvSpPr/>
          <p:nvPr/>
        </p:nvSpPr>
        <p:spPr>
          <a:xfrm>
            <a:off x="7502652" y="1024128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Rounded Rectangle 1272"/>
          <p:cNvSpPr/>
          <p:nvPr/>
        </p:nvSpPr>
        <p:spPr>
          <a:xfrm>
            <a:off x="1097280" y="1261872"/>
            <a:ext cx="1188720" cy="475488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TextBox 1273"/>
          <p:cNvSpPr txBox="1"/>
          <p:nvPr/>
        </p:nvSpPr>
        <p:spPr>
          <a:xfrm>
            <a:off x="1143000" y="130759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Worker 1</a:t>
            </a:r>
          </a:p>
        </p:txBody>
      </p:sp>
      <p:sp>
        <p:nvSpPr>
          <p:cNvPr id="1275" name="TextBox 1274"/>
          <p:cNvSpPr txBox="1"/>
          <p:nvPr/>
        </p:nvSpPr>
        <p:spPr>
          <a:xfrm>
            <a:off x="1143000" y="150876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Sonnet</a:t>
            </a:r>
          </a:p>
        </p:txBody>
      </p:sp>
      <p:sp>
        <p:nvSpPr>
          <p:cNvPr id="1276" name="Rounded Rectangle 1275"/>
          <p:cNvSpPr/>
          <p:nvPr/>
        </p:nvSpPr>
        <p:spPr>
          <a:xfrm>
            <a:off x="2560320" y="1261872"/>
            <a:ext cx="1188720" cy="475488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TextBox 1276"/>
          <p:cNvSpPr txBox="1"/>
          <p:nvPr/>
        </p:nvSpPr>
        <p:spPr>
          <a:xfrm>
            <a:off x="2606040" y="130759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Worker 2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2606040" y="150876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Sonnet</a:t>
            </a:r>
          </a:p>
        </p:txBody>
      </p:sp>
      <p:sp>
        <p:nvSpPr>
          <p:cNvPr id="1279" name="Rounded Rectangle 1278"/>
          <p:cNvSpPr/>
          <p:nvPr/>
        </p:nvSpPr>
        <p:spPr>
          <a:xfrm>
            <a:off x="4023360" y="1261872"/>
            <a:ext cx="1188720" cy="475488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TextBox 1279"/>
          <p:cNvSpPr txBox="1"/>
          <p:nvPr/>
        </p:nvSpPr>
        <p:spPr>
          <a:xfrm>
            <a:off x="4069080" y="130759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Worker 3</a:t>
            </a:r>
          </a:p>
        </p:txBody>
      </p:sp>
      <p:sp>
        <p:nvSpPr>
          <p:cNvPr id="1281" name="TextBox 1280"/>
          <p:cNvSpPr txBox="1"/>
          <p:nvPr/>
        </p:nvSpPr>
        <p:spPr>
          <a:xfrm>
            <a:off x="4069080" y="150876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Sonnet</a:t>
            </a:r>
          </a:p>
        </p:txBody>
      </p:sp>
      <p:sp>
        <p:nvSpPr>
          <p:cNvPr id="1282" name="Rounded Rectangle 1281"/>
          <p:cNvSpPr/>
          <p:nvPr/>
        </p:nvSpPr>
        <p:spPr>
          <a:xfrm>
            <a:off x="5486400" y="1261872"/>
            <a:ext cx="1188720" cy="475488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TextBox 1282"/>
          <p:cNvSpPr txBox="1"/>
          <p:nvPr/>
        </p:nvSpPr>
        <p:spPr>
          <a:xfrm>
            <a:off x="5532120" y="130759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Worker 4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5532120" y="150876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Sonnet</a:t>
            </a:r>
          </a:p>
        </p:txBody>
      </p:sp>
      <p:sp>
        <p:nvSpPr>
          <p:cNvPr id="1285" name="Rounded Rectangle 1284"/>
          <p:cNvSpPr/>
          <p:nvPr/>
        </p:nvSpPr>
        <p:spPr>
          <a:xfrm>
            <a:off x="6949440" y="1261872"/>
            <a:ext cx="1188720" cy="475488"/>
          </a:xfrm>
          <a:prstGeom prst="roundRect">
            <a:avLst/>
          </a:prstGeom>
          <a:solidFill>
            <a:srgbClr val="FA5A50"/>
          </a:solidFill>
          <a:ln w="1270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TextBox 1285"/>
          <p:cNvSpPr txBox="1"/>
          <p:nvPr/>
        </p:nvSpPr>
        <p:spPr>
          <a:xfrm>
            <a:off x="6995160" y="130759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Worker 5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6995160" y="150876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Sonnet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1097280" y="1773936"/>
            <a:ext cx="6949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← running in parallel →</a:t>
            </a:r>
          </a:p>
        </p:txBody>
      </p:sp>
      <p:sp>
        <p:nvSpPr>
          <p:cNvPr id="1289" name="Down Arrow 1288"/>
          <p:cNvSpPr/>
          <p:nvPr/>
        </p:nvSpPr>
        <p:spPr>
          <a:xfrm>
            <a:off x="1650492" y="1956816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Down Arrow 1289"/>
          <p:cNvSpPr/>
          <p:nvPr/>
        </p:nvSpPr>
        <p:spPr>
          <a:xfrm>
            <a:off x="3113532" y="1956816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Down Arrow 1290"/>
          <p:cNvSpPr/>
          <p:nvPr/>
        </p:nvSpPr>
        <p:spPr>
          <a:xfrm>
            <a:off x="4576572" y="1956816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Down Arrow 1291"/>
          <p:cNvSpPr/>
          <p:nvPr/>
        </p:nvSpPr>
        <p:spPr>
          <a:xfrm>
            <a:off x="6039612" y="1956816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Down Arrow 1292"/>
          <p:cNvSpPr/>
          <p:nvPr/>
        </p:nvSpPr>
        <p:spPr>
          <a:xfrm>
            <a:off x="7502652" y="1956816"/>
            <a:ext cx="82296" cy="228600"/>
          </a:xfrm>
          <a:prstGeom prst="downArrow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Rounded Rectangle 1293"/>
          <p:cNvSpPr/>
          <p:nvPr/>
        </p:nvSpPr>
        <p:spPr>
          <a:xfrm>
            <a:off x="2011680" y="2194560"/>
            <a:ext cx="5029200" cy="502920"/>
          </a:xfrm>
          <a:prstGeom prst="roundRect">
            <a:avLst/>
          </a:prstGeom>
          <a:solidFill>
            <a:srgbClr val="000050"/>
          </a:solidFill>
          <a:ln w="19050">
            <a:solidFill>
              <a:srgbClr val="00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TextBox 1294"/>
          <p:cNvSpPr txBox="1"/>
          <p:nvPr/>
        </p:nvSpPr>
        <p:spPr>
          <a:xfrm>
            <a:off x="2148840" y="222199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Opus — Collect &amp; Validate</a:t>
            </a:r>
          </a:p>
        </p:txBody>
      </p:sp>
      <p:sp>
        <p:nvSpPr>
          <p:cNvPr id="1296" name="TextBox 1295"/>
          <p:cNvSpPr txBox="1"/>
          <p:nvPr/>
        </p:nvSpPr>
        <p:spPr>
          <a:xfrm>
            <a:off x="2148840" y="2450592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Review results · Check quality · Plan next wave or complete</a:t>
            </a:r>
          </a:p>
        </p:txBody>
      </p:sp>
      <p:sp>
        <p:nvSpPr>
          <p:cNvPr id="1297" name="Rounded Rectangle 1296"/>
          <p:cNvSpPr/>
          <p:nvPr/>
        </p:nvSpPr>
        <p:spPr>
          <a:xfrm>
            <a:off x="182880" y="2852928"/>
            <a:ext cx="425196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TextBox 1297"/>
          <p:cNvSpPr txBox="1"/>
          <p:nvPr/>
        </p:nvSpPr>
        <p:spPr>
          <a:xfrm>
            <a:off x="320040" y="289864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Why?</a:t>
            </a:r>
          </a:p>
        </p:txBody>
      </p:sp>
      <p:sp>
        <p:nvSpPr>
          <p:cNvPr id="1299" name="TextBox 1298"/>
          <p:cNvSpPr txBox="1"/>
          <p:nvPr/>
        </p:nvSpPr>
        <p:spPr>
          <a:xfrm>
            <a:off x="320040" y="3127248"/>
            <a:ext cx="3977639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Opus: better at complex reasoning and planning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320040" y="3282696"/>
            <a:ext cx="3977639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Sonnet: faster, cost-effective for focused tasks</a:t>
            </a:r>
          </a:p>
        </p:txBody>
      </p:sp>
      <p:sp>
        <p:nvSpPr>
          <p:cNvPr id="1301" name="TextBox 1300"/>
          <p:cNvSpPr txBox="1"/>
          <p:nvPr/>
        </p:nvSpPr>
        <p:spPr>
          <a:xfrm>
            <a:off x="320040" y="3438144"/>
            <a:ext cx="3977639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Parallel execution = speed · Orchestrated review = quality</a:t>
            </a:r>
          </a:p>
        </p:txBody>
      </p:sp>
      <p:sp>
        <p:nvSpPr>
          <p:cNvPr id="1302" name="Rounded Rectangle 1301"/>
          <p:cNvSpPr/>
          <p:nvPr/>
        </p:nvSpPr>
        <p:spPr>
          <a:xfrm>
            <a:off x="4709160" y="2852928"/>
            <a:ext cx="425196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4846320" y="2898648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Task Waves</a:t>
            </a:r>
          </a:p>
        </p:txBody>
      </p:sp>
      <p:sp>
        <p:nvSpPr>
          <p:cNvPr id="1304" name="TextBox 1303"/>
          <p:cNvSpPr txBox="1"/>
          <p:nvPr/>
        </p:nvSpPr>
        <p:spPr>
          <a:xfrm>
            <a:off x="4846320" y="3127248"/>
            <a:ext cx="3977639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Wave 1: foundation tasks with no dependencies</a:t>
            </a:r>
          </a:p>
        </p:txBody>
      </p:sp>
      <p:sp>
        <p:nvSpPr>
          <p:cNvPr id="1305" name="TextBox 1304"/>
          <p:cNvSpPr txBox="1"/>
          <p:nvPr/>
        </p:nvSpPr>
        <p:spPr>
          <a:xfrm>
            <a:off x="4846320" y="3282696"/>
            <a:ext cx="3977639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Wave 2: tasks that depend on Wave 1 outputs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4846320" y="3438144"/>
            <a:ext cx="3977639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Wave N: continues until all tasks complete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The Repository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228600" y="420624"/>
            <a:ext cx="8686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Single source of truth and cognitive scaffolding for agent-driven development.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182880" y="713232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What feeds the repo</a:t>
            </a:r>
          </a:p>
        </p:txBody>
      </p:sp>
      <p:sp>
        <p:nvSpPr>
          <p:cNvPr id="1267" name="Rounded Rectangle 1266"/>
          <p:cNvSpPr/>
          <p:nvPr/>
        </p:nvSpPr>
        <p:spPr>
          <a:xfrm>
            <a:off x="182880" y="1005840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Rectangle 1267"/>
          <p:cNvSpPr/>
          <p:nvPr/>
        </p:nvSpPr>
        <p:spPr>
          <a:xfrm>
            <a:off x="182880" y="1005840"/>
            <a:ext cx="38100" cy="38404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292608" y="1042416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BDD &amp; TDD Tests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292608" y="1207008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Executable truth — specs go stale, tests don’t</a:t>
            </a:r>
          </a:p>
        </p:txBody>
      </p:sp>
      <p:sp>
        <p:nvSpPr>
          <p:cNvPr id="1271" name="Rounded Rectangle 1270"/>
          <p:cNvSpPr/>
          <p:nvPr/>
        </p:nvSpPr>
        <p:spPr>
          <a:xfrm>
            <a:off x="182880" y="1481328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Rectangle 1271"/>
          <p:cNvSpPr/>
          <p:nvPr/>
        </p:nvSpPr>
        <p:spPr>
          <a:xfrm>
            <a:off x="182880" y="1481328"/>
            <a:ext cx="38100" cy="38404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TextBox 1272"/>
          <p:cNvSpPr txBox="1"/>
          <p:nvPr/>
        </p:nvSpPr>
        <p:spPr>
          <a:xfrm>
            <a:off x="292608" y="1517904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Steering Files</a:t>
            </a:r>
          </a:p>
        </p:txBody>
      </p:sp>
      <p:sp>
        <p:nvSpPr>
          <p:cNvPr id="1274" name="TextBox 1273"/>
          <p:cNvSpPr txBox="1"/>
          <p:nvPr/>
        </p:nvSpPr>
        <p:spPr>
          <a:xfrm>
            <a:off x="292608" y="1682496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Architecture decisions enforced mechanically</a:t>
            </a:r>
          </a:p>
        </p:txBody>
      </p:sp>
      <p:sp>
        <p:nvSpPr>
          <p:cNvPr id="1275" name="Rounded Rectangle 1274"/>
          <p:cNvSpPr/>
          <p:nvPr/>
        </p:nvSpPr>
        <p:spPr>
          <a:xfrm>
            <a:off x="182880" y="1956816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Rectangle 1275"/>
          <p:cNvSpPr/>
          <p:nvPr/>
        </p:nvSpPr>
        <p:spPr>
          <a:xfrm>
            <a:off x="182880" y="1956816"/>
            <a:ext cx="38100" cy="38404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TextBox 1276"/>
          <p:cNvSpPr txBox="1"/>
          <p:nvPr/>
        </p:nvSpPr>
        <p:spPr>
          <a:xfrm>
            <a:off x="292608" y="1993392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Figma via MCP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292608" y="2157984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UI/UX designs accessible to agents directly</a:t>
            </a:r>
          </a:p>
        </p:txBody>
      </p:sp>
      <p:sp>
        <p:nvSpPr>
          <p:cNvPr id="1279" name="Rounded Rectangle 1278"/>
          <p:cNvSpPr/>
          <p:nvPr/>
        </p:nvSpPr>
        <p:spPr>
          <a:xfrm>
            <a:off x="182880" y="2432304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Rectangle 1279"/>
          <p:cNvSpPr/>
          <p:nvPr/>
        </p:nvSpPr>
        <p:spPr>
          <a:xfrm>
            <a:off x="182880" y="2432304"/>
            <a:ext cx="38100" cy="38404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292608" y="2468880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Alignment Docs</a:t>
            </a:r>
          </a:p>
        </p:txBody>
      </p:sp>
      <p:sp>
        <p:nvSpPr>
          <p:cNvPr id="1282" name="TextBox 1281"/>
          <p:cNvSpPr txBox="1"/>
          <p:nvPr/>
        </p:nvSpPr>
        <p:spPr>
          <a:xfrm>
            <a:off x="292608" y="2633472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FR/BR decomposition, API contracts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3200400" y="713232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Git as scaffolding</a:t>
            </a:r>
          </a:p>
        </p:txBody>
      </p:sp>
      <p:sp>
        <p:nvSpPr>
          <p:cNvPr id="1284" name="Rounded Rectangle 1283"/>
          <p:cNvSpPr/>
          <p:nvPr/>
        </p:nvSpPr>
        <p:spPr>
          <a:xfrm>
            <a:off x="3200400" y="1005840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Rectangle 1284"/>
          <p:cNvSpPr/>
          <p:nvPr/>
        </p:nvSpPr>
        <p:spPr>
          <a:xfrm>
            <a:off x="3200400" y="1005840"/>
            <a:ext cx="38100" cy="38404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TextBox 1285"/>
          <p:cNvSpPr txBox="1"/>
          <p:nvPr/>
        </p:nvSpPr>
        <p:spPr>
          <a:xfrm>
            <a:off x="3310128" y="1042416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Commits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3310128" y="1207008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Recovery mechanisms — every commit is a rollback point</a:t>
            </a:r>
          </a:p>
        </p:txBody>
      </p:sp>
      <p:sp>
        <p:nvSpPr>
          <p:cNvPr id="1288" name="Rounded Rectangle 1287"/>
          <p:cNvSpPr/>
          <p:nvPr/>
        </p:nvSpPr>
        <p:spPr>
          <a:xfrm>
            <a:off x="3200400" y="1481328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Rectangle 1288"/>
          <p:cNvSpPr/>
          <p:nvPr/>
        </p:nvSpPr>
        <p:spPr>
          <a:xfrm>
            <a:off x="3200400" y="1481328"/>
            <a:ext cx="38100" cy="38404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3310128" y="1517904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Branches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3310128" y="1682496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Safe spaces for thought experiments — no harm if agent fails</a:t>
            </a:r>
          </a:p>
        </p:txBody>
      </p:sp>
      <p:sp>
        <p:nvSpPr>
          <p:cNvPr id="1292" name="Rounded Rectangle 1291"/>
          <p:cNvSpPr/>
          <p:nvPr/>
        </p:nvSpPr>
        <p:spPr>
          <a:xfrm>
            <a:off x="3200400" y="1956816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Rectangle 1292"/>
          <p:cNvSpPr/>
          <p:nvPr/>
        </p:nvSpPr>
        <p:spPr>
          <a:xfrm>
            <a:off x="3200400" y="1956816"/>
            <a:ext cx="38100" cy="38404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Box 1293"/>
          <p:cNvSpPr txBox="1"/>
          <p:nvPr/>
        </p:nvSpPr>
        <p:spPr>
          <a:xfrm>
            <a:off x="3310128" y="1993392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History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3310128" y="2157984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Full audit trail of what was decided and why</a:t>
            </a:r>
          </a:p>
        </p:txBody>
      </p:sp>
      <p:sp>
        <p:nvSpPr>
          <p:cNvPr id="1296" name="TextBox 1295"/>
          <p:cNvSpPr txBox="1"/>
          <p:nvPr/>
        </p:nvSpPr>
        <p:spPr>
          <a:xfrm>
            <a:off x="6217920" y="713232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50"/>
                </a:solidFill>
                <a:latin typeface="DM Sans"/>
              </a:defRPr>
            </a:pPr>
            <a:r>
              <a:t>What agents get</a:t>
            </a:r>
          </a:p>
        </p:txBody>
      </p:sp>
      <p:sp>
        <p:nvSpPr>
          <p:cNvPr id="1297" name="Rounded Rectangle 1296"/>
          <p:cNvSpPr/>
          <p:nvPr/>
        </p:nvSpPr>
        <p:spPr>
          <a:xfrm>
            <a:off x="6217920" y="1005840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Rectangle 1297"/>
          <p:cNvSpPr/>
          <p:nvPr/>
        </p:nvSpPr>
        <p:spPr>
          <a:xfrm>
            <a:off x="6217920" y="1005840"/>
            <a:ext cx="38100" cy="38404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6327648" y="1042416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Context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6327648" y="1207008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Agent reads repo to understand what to do</a:t>
            </a:r>
          </a:p>
        </p:txBody>
      </p:sp>
      <p:sp>
        <p:nvSpPr>
          <p:cNvPr id="1301" name="Rounded Rectangle 1300"/>
          <p:cNvSpPr/>
          <p:nvPr/>
        </p:nvSpPr>
        <p:spPr>
          <a:xfrm>
            <a:off x="6217920" y="1481328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Rectangle 1301"/>
          <p:cNvSpPr/>
          <p:nvPr/>
        </p:nvSpPr>
        <p:spPr>
          <a:xfrm>
            <a:off x="6217920" y="1481328"/>
            <a:ext cx="38100" cy="384048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6327648" y="1517904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Constraints</a:t>
            </a:r>
          </a:p>
        </p:txBody>
      </p:sp>
      <p:sp>
        <p:nvSpPr>
          <p:cNvPr id="1304" name="TextBox 1303"/>
          <p:cNvSpPr txBox="1"/>
          <p:nvPr/>
        </p:nvSpPr>
        <p:spPr>
          <a:xfrm>
            <a:off x="6327648" y="1682496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Steering files enforce architecture rules</a:t>
            </a:r>
          </a:p>
        </p:txBody>
      </p:sp>
      <p:sp>
        <p:nvSpPr>
          <p:cNvPr id="1305" name="Rounded Rectangle 1304"/>
          <p:cNvSpPr/>
          <p:nvPr/>
        </p:nvSpPr>
        <p:spPr>
          <a:xfrm>
            <a:off x="6217920" y="1956816"/>
            <a:ext cx="2651760" cy="384048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6217920" y="1956816"/>
            <a:ext cx="38100" cy="384048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TextBox 1306"/>
          <p:cNvSpPr txBox="1"/>
          <p:nvPr/>
        </p:nvSpPr>
        <p:spPr>
          <a:xfrm>
            <a:off x="6327648" y="1993392"/>
            <a:ext cx="2514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Validation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6327648" y="2157984"/>
            <a:ext cx="2514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M Sans"/>
              </a:defRPr>
            </a:pPr>
            <a:r>
              <a:t>Tests verify agent output is correct</a:t>
            </a:r>
          </a:p>
        </p:txBody>
      </p:sp>
      <p:sp>
        <p:nvSpPr>
          <p:cNvPr id="1309" name="Right Arrow 1308"/>
          <p:cNvSpPr/>
          <p:nvPr/>
        </p:nvSpPr>
        <p:spPr>
          <a:xfrm>
            <a:off x="2871216" y="1156716"/>
            <a:ext cx="23774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Right Arrow 1309"/>
          <p:cNvSpPr/>
          <p:nvPr/>
        </p:nvSpPr>
        <p:spPr>
          <a:xfrm>
            <a:off x="2871216" y="1632204"/>
            <a:ext cx="23774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Right Arrow 1310"/>
          <p:cNvSpPr/>
          <p:nvPr/>
        </p:nvSpPr>
        <p:spPr>
          <a:xfrm>
            <a:off x="2871216" y="2107692"/>
            <a:ext cx="23774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Right Arrow 1311"/>
          <p:cNvSpPr/>
          <p:nvPr/>
        </p:nvSpPr>
        <p:spPr>
          <a:xfrm>
            <a:off x="5888736" y="1156716"/>
            <a:ext cx="23774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Right Arrow 1312"/>
          <p:cNvSpPr/>
          <p:nvPr/>
        </p:nvSpPr>
        <p:spPr>
          <a:xfrm>
            <a:off x="5888736" y="1632204"/>
            <a:ext cx="23774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Right Arrow 1313"/>
          <p:cNvSpPr/>
          <p:nvPr/>
        </p:nvSpPr>
        <p:spPr>
          <a:xfrm>
            <a:off x="5888736" y="2107692"/>
            <a:ext cx="237744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182880" y="4617720"/>
            <a:ext cx="8778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0050"/>
                </a:solidFill>
                <a:latin typeface="DM Sans"/>
              </a:defRPr>
            </a:pPr>
            <a:r>
              <a:t>If the agent can’t access it in the repo, it doesn’t exist. Knowledge in people’s heads, chat threads, or wiki pages is invisible to the system.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How We Measure Success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228600" y="420624"/>
            <a:ext cx="8686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Automated metrics tracked by agents throughout the pipeline.</a:t>
            </a:r>
          </a:p>
        </p:txBody>
      </p:sp>
      <p:sp>
        <p:nvSpPr>
          <p:cNvPr id="1266" name="Rounded Rectangle 1265"/>
          <p:cNvSpPr/>
          <p:nvPr/>
        </p:nvSpPr>
        <p:spPr>
          <a:xfrm>
            <a:off x="182880" y="658368"/>
            <a:ext cx="1645920" cy="41148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Rectangle 1266"/>
          <p:cNvSpPr/>
          <p:nvPr/>
        </p:nvSpPr>
        <p:spPr>
          <a:xfrm>
            <a:off x="182880" y="658368"/>
            <a:ext cx="164592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TextBox 1267"/>
          <p:cNvSpPr txBox="1"/>
          <p:nvPr/>
        </p:nvSpPr>
        <p:spPr>
          <a:xfrm>
            <a:off x="274320" y="7315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Throughput</a:t>
            </a:r>
          </a:p>
        </p:txBody>
      </p:sp>
      <p:sp>
        <p:nvSpPr>
          <p:cNvPr id="1269" name="Oval 1268"/>
          <p:cNvSpPr/>
          <p:nvPr/>
        </p:nvSpPr>
        <p:spPr>
          <a:xfrm>
            <a:off x="274320" y="1124712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TextBox 1269"/>
          <p:cNvSpPr txBox="1"/>
          <p:nvPr/>
        </p:nvSpPr>
        <p:spPr>
          <a:xfrm>
            <a:off x="411480" y="1069848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Time-to-first-PR</a:t>
            </a:r>
          </a:p>
        </p:txBody>
      </p:sp>
      <p:sp>
        <p:nvSpPr>
          <p:cNvPr id="1271" name="Oval 1270"/>
          <p:cNvSpPr/>
          <p:nvPr/>
        </p:nvSpPr>
        <p:spPr>
          <a:xfrm>
            <a:off x="274320" y="1508760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411480" y="1453896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Time-to-merge</a:t>
            </a:r>
          </a:p>
        </p:txBody>
      </p:sp>
      <p:sp>
        <p:nvSpPr>
          <p:cNvPr id="1273" name="Oval 1272"/>
          <p:cNvSpPr/>
          <p:nvPr/>
        </p:nvSpPr>
        <p:spPr>
          <a:xfrm>
            <a:off x="274320" y="1892808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TextBox 1273"/>
          <p:cNvSpPr txBox="1"/>
          <p:nvPr/>
        </p:nvSpPr>
        <p:spPr>
          <a:xfrm>
            <a:off x="411480" y="1837944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Tasks completed per day</a:t>
            </a:r>
          </a:p>
        </p:txBody>
      </p:sp>
      <p:sp>
        <p:nvSpPr>
          <p:cNvPr id="1275" name="Oval 1274"/>
          <p:cNvSpPr/>
          <p:nvPr/>
        </p:nvSpPr>
        <p:spPr>
          <a:xfrm>
            <a:off x="274320" y="2276856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TextBox 1275"/>
          <p:cNvSpPr txBox="1"/>
          <p:nvPr/>
        </p:nvSpPr>
        <p:spPr>
          <a:xfrm>
            <a:off x="411480" y="2221992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Average iteration count</a:t>
            </a:r>
          </a:p>
        </p:txBody>
      </p:sp>
      <p:sp>
        <p:nvSpPr>
          <p:cNvPr id="1277" name="Rounded Rectangle 1276"/>
          <p:cNvSpPr/>
          <p:nvPr/>
        </p:nvSpPr>
        <p:spPr>
          <a:xfrm>
            <a:off x="1920240" y="658368"/>
            <a:ext cx="1645920" cy="41148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Rectangle 1277"/>
          <p:cNvSpPr/>
          <p:nvPr/>
        </p:nvSpPr>
        <p:spPr>
          <a:xfrm>
            <a:off x="1920240" y="658368"/>
            <a:ext cx="1645920" cy="381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TextBox 1278"/>
          <p:cNvSpPr txBox="1"/>
          <p:nvPr/>
        </p:nvSpPr>
        <p:spPr>
          <a:xfrm>
            <a:off x="2011680" y="7315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Quality</a:t>
            </a:r>
          </a:p>
        </p:txBody>
      </p:sp>
      <p:sp>
        <p:nvSpPr>
          <p:cNvPr id="1280" name="Oval 1279"/>
          <p:cNvSpPr/>
          <p:nvPr/>
        </p:nvSpPr>
        <p:spPr>
          <a:xfrm>
            <a:off x="2011680" y="1124712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2148840" y="1069848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CI pass rate at merge</a:t>
            </a:r>
          </a:p>
        </p:txBody>
      </p:sp>
      <p:sp>
        <p:nvSpPr>
          <p:cNvPr id="1282" name="Oval 1281"/>
          <p:cNvSpPr/>
          <p:nvPr/>
        </p:nvSpPr>
        <p:spPr>
          <a:xfrm>
            <a:off x="2011680" y="1508760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TextBox 1282"/>
          <p:cNvSpPr txBox="1"/>
          <p:nvPr/>
        </p:nvSpPr>
        <p:spPr>
          <a:xfrm>
            <a:off x="2148840" y="1453896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Defect escape rate</a:t>
            </a:r>
          </a:p>
        </p:txBody>
      </p:sp>
      <p:sp>
        <p:nvSpPr>
          <p:cNvPr id="1284" name="Oval 1283"/>
          <p:cNvSpPr/>
          <p:nvPr/>
        </p:nvSpPr>
        <p:spPr>
          <a:xfrm>
            <a:off x="2011680" y="1892808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TextBox 1284"/>
          <p:cNvSpPr txBox="1"/>
          <p:nvPr/>
        </p:nvSpPr>
        <p:spPr>
          <a:xfrm>
            <a:off x="2148840" y="1837944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Rollback frequency</a:t>
            </a:r>
          </a:p>
        </p:txBody>
      </p:sp>
      <p:sp>
        <p:nvSpPr>
          <p:cNvPr id="1286" name="Oval 1285"/>
          <p:cNvSpPr/>
          <p:nvPr/>
        </p:nvSpPr>
        <p:spPr>
          <a:xfrm>
            <a:off x="2011680" y="2276856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2148840" y="2221992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validate-gap first-pass rate</a:t>
            </a:r>
          </a:p>
        </p:txBody>
      </p:sp>
      <p:sp>
        <p:nvSpPr>
          <p:cNvPr id="1288" name="Rounded Rectangle 1287"/>
          <p:cNvSpPr/>
          <p:nvPr/>
        </p:nvSpPr>
        <p:spPr>
          <a:xfrm>
            <a:off x="3657600" y="658368"/>
            <a:ext cx="1645920" cy="41148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Rectangle 1288"/>
          <p:cNvSpPr/>
          <p:nvPr/>
        </p:nvSpPr>
        <p:spPr>
          <a:xfrm>
            <a:off x="3657600" y="658368"/>
            <a:ext cx="164592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3749040" y="7315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Human Attention</a:t>
            </a:r>
          </a:p>
        </p:txBody>
      </p:sp>
      <p:sp>
        <p:nvSpPr>
          <p:cNvPr id="1291" name="Oval 1290"/>
          <p:cNvSpPr/>
          <p:nvPr/>
        </p:nvSpPr>
        <p:spPr>
          <a:xfrm>
            <a:off x="3749040" y="1124712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TextBox 1291"/>
          <p:cNvSpPr txBox="1"/>
          <p:nvPr/>
        </p:nvSpPr>
        <p:spPr>
          <a:xfrm>
            <a:off x="3886200" y="1069848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Review minutes per PR</a:t>
            </a:r>
          </a:p>
        </p:txBody>
      </p:sp>
      <p:sp>
        <p:nvSpPr>
          <p:cNvPr id="1293" name="Oval 1292"/>
          <p:cNvSpPr/>
          <p:nvPr/>
        </p:nvSpPr>
        <p:spPr>
          <a:xfrm>
            <a:off x="3749040" y="1508760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Box 1293"/>
          <p:cNvSpPr txBox="1"/>
          <p:nvPr/>
        </p:nvSpPr>
        <p:spPr>
          <a:xfrm>
            <a:off x="3886200" y="1453896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Escalation count</a:t>
            </a:r>
          </a:p>
        </p:txBody>
      </p:sp>
      <p:sp>
        <p:nvSpPr>
          <p:cNvPr id="1295" name="Oval 1294"/>
          <p:cNvSpPr/>
          <p:nvPr/>
        </p:nvSpPr>
        <p:spPr>
          <a:xfrm>
            <a:off x="3749040" y="1892808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3886200" y="1837944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% tasks needing human judgment</a:t>
            </a:r>
          </a:p>
        </p:txBody>
      </p:sp>
      <p:sp>
        <p:nvSpPr>
          <p:cNvPr id="1297" name="Oval 1296"/>
          <p:cNvSpPr/>
          <p:nvPr/>
        </p:nvSpPr>
        <p:spPr>
          <a:xfrm>
            <a:off x="3749040" y="2276856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TextBox 1297"/>
          <p:cNvSpPr txBox="1"/>
          <p:nvPr/>
        </p:nvSpPr>
        <p:spPr>
          <a:xfrm>
            <a:off x="3886200" y="2221992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Design revision count</a:t>
            </a:r>
          </a:p>
        </p:txBody>
      </p:sp>
      <p:sp>
        <p:nvSpPr>
          <p:cNvPr id="1299" name="Rounded Rectangle 1298"/>
          <p:cNvSpPr/>
          <p:nvPr/>
        </p:nvSpPr>
        <p:spPr>
          <a:xfrm>
            <a:off x="5394960" y="658368"/>
            <a:ext cx="1645920" cy="41148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Rectangle 1299"/>
          <p:cNvSpPr/>
          <p:nvPr/>
        </p:nvSpPr>
        <p:spPr>
          <a:xfrm>
            <a:off x="5394960" y="658368"/>
            <a:ext cx="1645920" cy="381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TextBox 1300"/>
          <p:cNvSpPr txBox="1"/>
          <p:nvPr/>
        </p:nvSpPr>
        <p:spPr>
          <a:xfrm>
            <a:off x="5486400" y="7315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Harness Health</a:t>
            </a:r>
          </a:p>
        </p:txBody>
      </p:sp>
      <p:sp>
        <p:nvSpPr>
          <p:cNvPr id="1302" name="Oval 1301"/>
          <p:cNvSpPr/>
          <p:nvPr/>
        </p:nvSpPr>
        <p:spPr>
          <a:xfrm>
            <a:off x="5486400" y="1124712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5623560" y="1069848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Doc freshness violations</a:t>
            </a:r>
          </a:p>
        </p:txBody>
      </p:sp>
      <p:sp>
        <p:nvSpPr>
          <p:cNvPr id="1304" name="Oval 1303"/>
          <p:cNvSpPr/>
          <p:nvPr/>
        </p:nvSpPr>
        <p:spPr>
          <a:xfrm>
            <a:off x="5486400" y="1508760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TextBox 1304"/>
          <p:cNvSpPr txBox="1"/>
          <p:nvPr/>
        </p:nvSpPr>
        <p:spPr>
          <a:xfrm>
            <a:off x="5623560" y="1453896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Architectural boundary violations</a:t>
            </a:r>
          </a:p>
        </p:txBody>
      </p:sp>
      <p:sp>
        <p:nvSpPr>
          <p:cNvPr id="1306" name="Oval 1305"/>
          <p:cNvSpPr/>
          <p:nvPr/>
        </p:nvSpPr>
        <p:spPr>
          <a:xfrm>
            <a:off x="5486400" y="1892808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TextBox 1306"/>
          <p:cNvSpPr txBox="1"/>
          <p:nvPr/>
        </p:nvSpPr>
        <p:spPr>
          <a:xfrm>
            <a:off x="5623560" y="1837944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Test flake rate</a:t>
            </a:r>
          </a:p>
        </p:txBody>
      </p:sp>
      <p:sp>
        <p:nvSpPr>
          <p:cNvPr id="1308" name="Oval 1307"/>
          <p:cNvSpPr/>
          <p:nvPr/>
        </p:nvSpPr>
        <p:spPr>
          <a:xfrm>
            <a:off x="5486400" y="2276856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5623560" y="2221992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Steering file coverage</a:t>
            </a:r>
          </a:p>
        </p:txBody>
      </p:sp>
      <p:sp>
        <p:nvSpPr>
          <p:cNvPr id="1310" name="Rounded Rectangle 1309"/>
          <p:cNvSpPr/>
          <p:nvPr/>
        </p:nvSpPr>
        <p:spPr>
          <a:xfrm>
            <a:off x="7132320" y="658368"/>
            <a:ext cx="1645920" cy="411480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Rectangle 1310"/>
          <p:cNvSpPr/>
          <p:nvPr/>
        </p:nvSpPr>
        <p:spPr>
          <a:xfrm>
            <a:off x="7132320" y="658368"/>
            <a:ext cx="164592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7223760" y="7315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DM Sans"/>
              </a:defRPr>
            </a:pPr>
            <a:r>
              <a:t>Delivery Cycle</a:t>
            </a:r>
          </a:p>
        </p:txBody>
      </p:sp>
      <p:sp>
        <p:nvSpPr>
          <p:cNvPr id="1313" name="Oval 1312"/>
          <p:cNvSpPr/>
          <p:nvPr/>
        </p:nvSpPr>
        <p:spPr>
          <a:xfrm>
            <a:off x="7223760" y="1124712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TextBox 1313"/>
          <p:cNvSpPr txBox="1"/>
          <p:nvPr/>
        </p:nvSpPr>
        <p:spPr>
          <a:xfrm>
            <a:off x="7360920" y="1069848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Per-feature end-to-end days</a:t>
            </a:r>
          </a:p>
        </p:txBody>
      </p:sp>
      <p:sp>
        <p:nvSpPr>
          <p:cNvPr id="1315" name="Oval 1314"/>
          <p:cNvSpPr/>
          <p:nvPr/>
        </p:nvSpPr>
        <p:spPr>
          <a:xfrm>
            <a:off x="7223760" y="1508760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TextBox 1315"/>
          <p:cNvSpPr txBox="1"/>
          <p:nvPr/>
        </p:nvSpPr>
        <p:spPr>
          <a:xfrm>
            <a:off x="7360920" y="1453896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Phase duration breakdown</a:t>
            </a:r>
          </a:p>
        </p:txBody>
      </p:sp>
      <p:sp>
        <p:nvSpPr>
          <p:cNvPr id="1317" name="Oval 1316"/>
          <p:cNvSpPr/>
          <p:nvPr/>
        </p:nvSpPr>
        <p:spPr>
          <a:xfrm>
            <a:off x="7223760" y="1892808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7360920" y="1837944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BRD-to-Feature-Done cycle</a:t>
            </a:r>
          </a:p>
        </p:txBody>
      </p:sp>
      <p:sp>
        <p:nvSpPr>
          <p:cNvPr id="1319" name="Oval 1318"/>
          <p:cNvSpPr/>
          <p:nvPr/>
        </p:nvSpPr>
        <p:spPr>
          <a:xfrm>
            <a:off x="7223760" y="2276856"/>
            <a:ext cx="63500" cy="635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TextBox 1319"/>
          <p:cNvSpPr txBox="1"/>
          <p:nvPr/>
        </p:nvSpPr>
        <p:spPr>
          <a:xfrm>
            <a:off x="7360920" y="2221992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Baseline after 3 features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58" name="Google Shape;1258;p40"/>
          <p:cNvGrpSpPr/>
          <p:nvPr/>
        </p:nvGrpSpPr>
        <p:grpSpPr>
          <a:xfrm>
            <a:off x="457212" y="3803888"/>
            <a:ext cx="779700" cy="445596"/>
            <a:chOff x="293125" y="846675"/>
            <a:chExt cx="7037000" cy="4021625"/>
          </a:xfrm>
        </p:grpSpPr>
        <p:sp>
          <p:nvSpPr>
            <p:cNvPr id="1259" name="Google Shape;1259;p40"/>
            <p:cNvSpPr/>
            <p:nvPr/>
          </p:nvSpPr>
          <p:spPr>
            <a:xfrm>
              <a:off x="293125" y="2859100"/>
              <a:ext cx="7037000" cy="25"/>
            </a:xfrm>
            <a:custGeom>
              <a:rect b="b" l="l" r="r" t="t"/>
              <a:pathLst>
                <a:path extrusionOk="0" fill="none" h="1" w="281480">
                  <a:moveTo>
                    <a:pt x="0" y="0"/>
                  </a:moveTo>
                  <a:lnTo>
                    <a:pt x="281479" y="0"/>
                  </a:lnTo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293125" y="846675"/>
              <a:ext cx="7037000" cy="4021625"/>
            </a:xfrm>
            <a:custGeom>
              <a:rect b="b" l="l" r="r" t="t"/>
              <a:pathLst>
                <a:path extrusionOk="0" fill="none" h="160865" w="281480">
                  <a:moveTo>
                    <a:pt x="281479" y="80497"/>
                  </a:moveTo>
                  <a:lnTo>
                    <a:pt x="281479" y="80497"/>
                  </a:lnTo>
                  <a:lnTo>
                    <a:pt x="281479" y="82568"/>
                  </a:lnTo>
                  <a:lnTo>
                    <a:pt x="281350" y="84639"/>
                  </a:lnTo>
                  <a:lnTo>
                    <a:pt x="281091" y="86580"/>
                  </a:lnTo>
                  <a:lnTo>
                    <a:pt x="280703" y="88650"/>
                  </a:lnTo>
                  <a:lnTo>
                    <a:pt x="280315" y="90721"/>
                  </a:lnTo>
                  <a:lnTo>
                    <a:pt x="279797" y="92662"/>
                  </a:lnTo>
                  <a:lnTo>
                    <a:pt x="279279" y="94733"/>
                  </a:lnTo>
                  <a:lnTo>
                    <a:pt x="278632" y="96674"/>
                  </a:lnTo>
                  <a:lnTo>
                    <a:pt x="277856" y="98615"/>
                  </a:lnTo>
                  <a:lnTo>
                    <a:pt x="277079" y="100557"/>
                  </a:lnTo>
                  <a:lnTo>
                    <a:pt x="276173" y="102498"/>
                  </a:lnTo>
                  <a:lnTo>
                    <a:pt x="275138" y="104310"/>
                  </a:lnTo>
                  <a:lnTo>
                    <a:pt x="274103" y="106251"/>
                  </a:lnTo>
                  <a:lnTo>
                    <a:pt x="272938" y="108063"/>
                  </a:lnTo>
                  <a:lnTo>
                    <a:pt x="270479" y="111686"/>
                  </a:lnTo>
                  <a:lnTo>
                    <a:pt x="267632" y="115310"/>
                  </a:lnTo>
                  <a:lnTo>
                    <a:pt x="264526" y="118804"/>
                  </a:lnTo>
                  <a:lnTo>
                    <a:pt x="261161" y="122169"/>
                  </a:lnTo>
                  <a:lnTo>
                    <a:pt x="257408" y="125404"/>
                  </a:lnTo>
                  <a:lnTo>
                    <a:pt x="253526" y="128510"/>
                  </a:lnTo>
                  <a:lnTo>
                    <a:pt x="249384" y="131616"/>
                  </a:lnTo>
                  <a:lnTo>
                    <a:pt x="244855" y="134464"/>
                  </a:lnTo>
                  <a:lnTo>
                    <a:pt x="240196" y="137311"/>
                  </a:lnTo>
                  <a:lnTo>
                    <a:pt x="235407" y="140028"/>
                  </a:lnTo>
                  <a:lnTo>
                    <a:pt x="230231" y="142487"/>
                  </a:lnTo>
                  <a:lnTo>
                    <a:pt x="224925" y="144946"/>
                  </a:lnTo>
                  <a:lnTo>
                    <a:pt x="219360" y="147146"/>
                  </a:lnTo>
                  <a:lnTo>
                    <a:pt x="213665" y="149217"/>
                  </a:lnTo>
                  <a:lnTo>
                    <a:pt x="207842" y="151158"/>
                  </a:lnTo>
                  <a:lnTo>
                    <a:pt x="201759" y="152970"/>
                  </a:lnTo>
                  <a:lnTo>
                    <a:pt x="195547" y="154523"/>
                  </a:lnTo>
                  <a:lnTo>
                    <a:pt x="189077" y="155947"/>
                  </a:lnTo>
                  <a:lnTo>
                    <a:pt x="182606" y="157241"/>
                  </a:lnTo>
                  <a:lnTo>
                    <a:pt x="175876" y="158276"/>
                  </a:lnTo>
                  <a:lnTo>
                    <a:pt x="169146" y="159182"/>
                  </a:lnTo>
                  <a:lnTo>
                    <a:pt x="162158" y="159958"/>
                  </a:lnTo>
                  <a:lnTo>
                    <a:pt x="155170" y="160476"/>
                  </a:lnTo>
                  <a:lnTo>
                    <a:pt x="147922" y="160735"/>
                  </a:lnTo>
                  <a:lnTo>
                    <a:pt x="140675" y="160864"/>
                  </a:lnTo>
                  <a:lnTo>
                    <a:pt x="140675" y="160864"/>
                  </a:lnTo>
                  <a:lnTo>
                    <a:pt x="133428" y="160735"/>
                  </a:lnTo>
                  <a:lnTo>
                    <a:pt x="126310" y="160476"/>
                  </a:lnTo>
                  <a:lnTo>
                    <a:pt x="119321" y="159958"/>
                  </a:lnTo>
                  <a:lnTo>
                    <a:pt x="112333" y="159182"/>
                  </a:lnTo>
                  <a:lnTo>
                    <a:pt x="105603" y="158276"/>
                  </a:lnTo>
                  <a:lnTo>
                    <a:pt x="98874" y="157241"/>
                  </a:lnTo>
                  <a:lnTo>
                    <a:pt x="92274" y="155947"/>
                  </a:lnTo>
                  <a:lnTo>
                    <a:pt x="85932" y="154523"/>
                  </a:lnTo>
                  <a:lnTo>
                    <a:pt x="79720" y="152970"/>
                  </a:lnTo>
                  <a:lnTo>
                    <a:pt x="73638" y="151158"/>
                  </a:lnTo>
                  <a:lnTo>
                    <a:pt x="67685" y="149217"/>
                  </a:lnTo>
                  <a:lnTo>
                    <a:pt x="61990" y="147146"/>
                  </a:lnTo>
                  <a:lnTo>
                    <a:pt x="56555" y="144946"/>
                  </a:lnTo>
                  <a:lnTo>
                    <a:pt x="51249" y="142487"/>
                  </a:lnTo>
                  <a:lnTo>
                    <a:pt x="46072" y="140028"/>
                  </a:lnTo>
                  <a:lnTo>
                    <a:pt x="41154" y="137311"/>
                  </a:lnTo>
                  <a:lnTo>
                    <a:pt x="36495" y="134464"/>
                  </a:lnTo>
                  <a:lnTo>
                    <a:pt x="32095" y="131616"/>
                  </a:lnTo>
                  <a:lnTo>
                    <a:pt x="27954" y="128510"/>
                  </a:lnTo>
                  <a:lnTo>
                    <a:pt x="24071" y="125404"/>
                  </a:lnTo>
                  <a:lnTo>
                    <a:pt x="20318" y="122169"/>
                  </a:lnTo>
                  <a:lnTo>
                    <a:pt x="16954" y="118804"/>
                  </a:lnTo>
                  <a:lnTo>
                    <a:pt x="13848" y="115310"/>
                  </a:lnTo>
                  <a:lnTo>
                    <a:pt x="11000" y="111686"/>
                  </a:lnTo>
                  <a:lnTo>
                    <a:pt x="8542" y="108063"/>
                  </a:lnTo>
                  <a:lnTo>
                    <a:pt x="7377" y="106251"/>
                  </a:lnTo>
                  <a:lnTo>
                    <a:pt x="6341" y="104310"/>
                  </a:lnTo>
                  <a:lnTo>
                    <a:pt x="5306" y="102498"/>
                  </a:lnTo>
                  <a:lnTo>
                    <a:pt x="4400" y="100557"/>
                  </a:lnTo>
                  <a:lnTo>
                    <a:pt x="3624" y="98615"/>
                  </a:lnTo>
                  <a:lnTo>
                    <a:pt x="2847" y="96674"/>
                  </a:lnTo>
                  <a:lnTo>
                    <a:pt x="2200" y="94733"/>
                  </a:lnTo>
                  <a:lnTo>
                    <a:pt x="1553" y="92662"/>
                  </a:lnTo>
                  <a:lnTo>
                    <a:pt x="1165" y="90721"/>
                  </a:lnTo>
                  <a:lnTo>
                    <a:pt x="647" y="88650"/>
                  </a:lnTo>
                  <a:lnTo>
                    <a:pt x="388" y="86580"/>
                  </a:lnTo>
                  <a:lnTo>
                    <a:pt x="129" y="84639"/>
                  </a:lnTo>
                  <a:lnTo>
                    <a:pt x="0" y="82568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8427"/>
                  </a:lnTo>
                  <a:lnTo>
                    <a:pt x="129" y="76356"/>
                  </a:lnTo>
                  <a:lnTo>
                    <a:pt x="388" y="74285"/>
                  </a:lnTo>
                  <a:lnTo>
                    <a:pt x="647" y="72215"/>
                  </a:lnTo>
                  <a:lnTo>
                    <a:pt x="1165" y="70144"/>
                  </a:lnTo>
                  <a:lnTo>
                    <a:pt x="1553" y="68203"/>
                  </a:lnTo>
                  <a:lnTo>
                    <a:pt x="2200" y="66261"/>
                  </a:lnTo>
                  <a:lnTo>
                    <a:pt x="2847" y="64191"/>
                  </a:lnTo>
                  <a:lnTo>
                    <a:pt x="3624" y="62250"/>
                  </a:lnTo>
                  <a:lnTo>
                    <a:pt x="4400" y="60308"/>
                  </a:lnTo>
                  <a:lnTo>
                    <a:pt x="5306" y="58367"/>
                  </a:lnTo>
                  <a:lnTo>
                    <a:pt x="6341" y="56555"/>
                  </a:lnTo>
                  <a:lnTo>
                    <a:pt x="7377" y="54614"/>
                  </a:lnTo>
                  <a:lnTo>
                    <a:pt x="8542" y="52802"/>
                  </a:lnTo>
                  <a:lnTo>
                    <a:pt x="11000" y="49179"/>
                  </a:lnTo>
                  <a:lnTo>
                    <a:pt x="13848" y="45555"/>
                  </a:lnTo>
                  <a:lnTo>
                    <a:pt x="16954" y="42061"/>
                  </a:lnTo>
                  <a:lnTo>
                    <a:pt x="20318" y="38696"/>
                  </a:lnTo>
                  <a:lnTo>
                    <a:pt x="24071" y="35461"/>
                  </a:lnTo>
                  <a:lnTo>
                    <a:pt x="27954" y="32355"/>
                  </a:lnTo>
                  <a:lnTo>
                    <a:pt x="32095" y="29249"/>
                  </a:lnTo>
                  <a:lnTo>
                    <a:pt x="36495" y="26401"/>
                  </a:lnTo>
                  <a:lnTo>
                    <a:pt x="41154" y="23554"/>
                  </a:lnTo>
                  <a:lnTo>
                    <a:pt x="46072" y="20966"/>
                  </a:lnTo>
                  <a:lnTo>
                    <a:pt x="51249" y="18378"/>
                  </a:lnTo>
                  <a:lnTo>
                    <a:pt x="56555" y="16048"/>
                  </a:lnTo>
                  <a:lnTo>
                    <a:pt x="61990" y="13719"/>
                  </a:lnTo>
                  <a:lnTo>
                    <a:pt x="67685" y="11648"/>
                  </a:lnTo>
                  <a:lnTo>
                    <a:pt x="73638" y="9707"/>
                  </a:lnTo>
                  <a:lnTo>
                    <a:pt x="79720" y="7895"/>
                  </a:lnTo>
                  <a:lnTo>
                    <a:pt x="85932" y="6342"/>
                  </a:lnTo>
                  <a:lnTo>
                    <a:pt x="92274" y="4918"/>
                  </a:lnTo>
                  <a:lnTo>
                    <a:pt x="98874" y="3624"/>
                  </a:lnTo>
                  <a:lnTo>
                    <a:pt x="105603" y="2589"/>
                  </a:lnTo>
                  <a:lnTo>
                    <a:pt x="112333" y="1683"/>
                  </a:lnTo>
                  <a:lnTo>
                    <a:pt x="119321" y="907"/>
                  </a:lnTo>
                  <a:lnTo>
                    <a:pt x="126310" y="389"/>
                  </a:lnTo>
                  <a:lnTo>
                    <a:pt x="133428" y="130"/>
                  </a:lnTo>
                  <a:lnTo>
                    <a:pt x="140675" y="1"/>
                  </a:lnTo>
                  <a:lnTo>
                    <a:pt x="140675" y="1"/>
                  </a:lnTo>
                  <a:lnTo>
                    <a:pt x="147922" y="130"/>
                  </a:lnTo>
                  <a:lnTo>
                    <a:pt x="155170" y="389"/>
                  </a:lnTo>
                  <a:lnTo>
                    <a:pt x="162158" y="907"/>
                  </a:lnTo>
                  <a:lnTo>
                    <a:pt x="169146" y="1683"/>
                  </a:lnTo>
                  <a:lnTo>
                    <a:pt x="175876" y="2589"/>
                  </a:lnTo>
                  <a:lnTo>
                    <a:pt x="182606" y="3624"/>
                  </a:lnTo>
                  <a:lnTo>
                    <a:pt x="189077" y="4918"/>
                  </a:lnTo>
                  <a:lnTo>
                    <a:pt x="195547" y="6342"/>
                  </a:lnTo>
                  <a:lnTo>
                    <a:pt x="201759" y="7895"/>
                  </a:lnTo>
                  <a:lnTo>
                    <a:pt x="207842" y="9707"/>
                  </a:lnTo>
                  <a:lnTo>
                    <a:pt x="213665" y="11648"/>
                  </a:lnTo>
                  <a:lnTo>
                    <a:pt x="219360" y="13719"/>
                  </a:lnTo>
                  <a:lnTo>
                    <a:pt x="224925" y="16048"/>
                  </a:lnTo>
                  <a:lnTo>
                    <a:pt x="230231" y="18378"/>
                  </a:lnTo>
                  <a:lnTo>
                    <a:pt x="235407" y="20966"/>
                  </a:lnTo>
                  <a:lnTo>
                    <a:pt x="240196" y="23554"/>
                  </a:lnTo>
                  <a:lnTo>
                    <a:pt x="244855" y="26401"/>
                  </a:lnTo>
                  <a:lnTo>
                    <a:pt x="249384" y="29249"/>
                  </a:lnTo>
                  <a:lnTo>
                    <a:pt x="253526" y="32355"/>
                  </a:lnTo>
                  <a:lnTo>
                    <a:pt x="257408" y="35461"/>
                  </a:lnTo>
                  <a:lnTo>
                    <a:pt x="261161" y="38696"/>
                  </a:lnTo>
                  <a:lnTo>
                    <a:pt x="264526" y="42061"/>
                  </a:lnTo>
                  <a:lnTo>
                    <a:pt x="267632" y="45555"/>
                  </a:lnTo>
                  <a:lnTo>
                    <a:pt x="270479" y="49179"/>
                  </a:lnTo>
                  <a:lnTo>
                    <a:pt x="272938" y="52802"/>
                  </a:lnTo>
                  <a:lnTo>
                    <a:pt x="274103" y="54614"/>
                  </a:lnTo>
                  <a:lnTo>
                    <a:pt x="275138" y="56555"/>
                  </a:lnTo>
                  <a:lnTo>
                    <a:pt x="276173" y="58367"/>
                  </a:lnTo>
                  <a:lnTo>
                    <a:pt x="277079" y="60308"/>
                  </a:lnTo>
                  <a:lnTo>
                    <a:pt x="277856" y="62250"/>
                  </a:lnTo>
                  <a:lnTo>
                    <a:pt x="278632" y="64191"/>
                  </a:lnTo>
                  <a:lnTo>
                    <a:pt x="279279" y="66261"/>
                  </a:lnTo>
                  <a:lnTo>
                    <a:pt x="279797" y="68203"/>
                  </a:lnTo>
                  <a:lnTo>
                    <a:pt x="280315" y="70144"/>
                  </a:lnTo>
                  <a:lnTo>
                    <a:pt x="280703" y="72215"/>
                  </a:lnTo>
                  <a:lnTo>
                    <a:pt x="281091" y="74285"/>
                  </a:lnTo>
                  <a:lnTo>
                    <a:pt x="281350" y="76356"/>
                  </a:lnTo>
                  <a:lnTo>
                    <a:pt x="281479" y="78427"/>
                  </a:lnTo>
                  <a:lnTo>
                    <a:pt x="281479" y="80497"/>
                  </a:lnTo>
                  <a:lnTo>
                    <a:pt x="281479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548450" y="846675"/>
              <a:ext cx="4526350" cy="4021625"/>
            </a:xfrm>
            <a:custGeom>
              <a:rect b="b" l="l" r="r" t="t"/>
              <a:pathLst>
                <a:path extrusionOk="0" fill="none" h="160865" w="181054">
                  <a:moveTo>
                    <a:pt x="181053" y="80497"/>
                  </a:moveTo>
                  <a:lnTo>
                    <a:pt x="181053" y="80497"/>
                  </a:lnTo>
                  <a:lnTo>
                    <a:pt x="180924" y="84639"/>
                  </a:lnTo>
                  <a:lnTo>
                    <a:pt x="180535" y="88650"/>
                  </a:lnTo>
                  <a:lnTo>
                    <a:pt x="180018" y="92662"/>
                  </a:lnTo>
                  <a:lnTo>
                    <a:pt x="179112" y="96674"/>
                  </a:lnTo>
                  <a:lnTo>
                    <a:pt x="178206" y="100557"/>
                  </a:lnTo>
                  <a:lnTo>
                    <a:pt x="176912" y="104310"/>
                  </a:lnTo>
                  <a:lnTo>
                    <a:pt x="175488" y="108063"/>
                  </a:lnTo>
                  <a:lnTo>
                    <a:pt x="173935" y="111686"/>
                  </a:lnTo>
                  <a:lnTo>
                    <a:pt x="172123" y="115310"/>
                  </a:lnTo>
                  <a:lnTo>
                    <a:pt x="170053" y="118804"/>
                  </a:lnTo>
                  <a:lnTo>
                    <a:pt x="167853" y="122169"/>
                  </a:lnTo>
                  <a:lnTo>
                    <a:pt x="165523" y="125404"/>
                  </a:lnTo>
                  <a:lnTo>
                    <a:pt x="163064" y="128510"/>
                  </a:lnTo>
                  <a:lnTo>
                    <a:pt x="160347" y="131616"/>
                  </a:lnTo>
                  <a:lnTo>
                    <a:pt x="157499" y="134464"/>
                  </a:lnTo>
                  <a:lnTo>
                    <a:pt x="154523" y="137311"/>
                  </a:lnTo>
                  <a:lnTo>
                    <a:pt x="151417" y="140028"/>
                  </a:lnTo>
                  <a:lnTo>
                    <a:pt x="148052" y="142487"/>
                  </a:lnTo>
                  <a:lnTo>
                    <a:pt x="144687" y="144946"/>
                  </a:lnTo>
                  <a:lnTo>
                    <a:pt x="141064" y="147146"/>
                  </a:lnTo>
                  <a:lnTo>
                    <a:pt x="137440" y="149217"/>
                  </a:lnTo>
                  <a:lnTo>
                    <a:pt x="133687" y="151158"/>
                  </a:lnTo>
                  <a:lnTo>
                    <a:pt x="129804" y="152970"/>
                  </a:lnTo>
                  <a:lnTo>
                    <a:pt x="125793" y="154523"/>
                  </a:lnTo>
                  <a:lnTo>
                    <a:pt x="121651" y="155947"/>
                  </a:lnTo>
                  <a:lnTo>
                    <a:pt x="117380" y="157241"/>
                  </a:lnTo>
                  <a:lnTo>
                    <a:pt x="113110" y="158276"/>
                  </a:lnTo>
                  <a:lnTo>
                    <a:pt x="108710" y="159182"/>
                  </a:lnTo>
                  <a:lnTo>
                    <a:pt x="104309" y="159958"/>
                  </a:lnTo>
                  <a:lnTo>
                    <a:pt x="99780" y="160476"/>
                  </a:lnTo>
                  <a:lnTo>
                    <a:pt x="95121" y="160735"/>
                  </a:lnTo>
                  <a:lnTo>
                    <a:pt x="90462" y="160864"/>
                  </a:lnTo>
                  <a:lnTo>
                    <a:pt x="90462" y="160864"/>
                  </a:lnTo>
                  <a:lnTo>
                    <a:pt x="85803" y="160735"/>
                  </a:lnTo>
                  <a:lnTo>
                    <a:pt x="81273" y="160476"/>
                  </a:lnTo>
                  <a:lnTo>
                    <a:pt x="76744" y="159958"/>
                  </a:lnTo>
                  <a:lnTo>
                    <a:pt x="72214" y="159182"/>
                  </a:lnTo>
                  <a:lnTo>
                    <a:pt x="67944" y="158276"/>
                  </a:lnTo>
                  <a:lnTo>
                    <a:pt x="63544" y="157241"/>
                  </a:lnTo>
                  <a:lnTo>
                    <a:pt x="59402" y="155947"/>
                  </a:lnTo>
                  <a:lnTo>
                    <a:pt x="55261" y="154523"/>
                  </a:lnTo>
                  <a:lnTo>
                    <a:pt x="51249" y="152970"/>
                  </a:lnTo>
                  <a:lnTo>
                    <a:pt x="47367" y="151158"/>
                  </a:lnTo>
                  <a:lnTo>
                    <a:pt x="43613" y="149217"/>
                  </a:lnTo>
                  <a:lnTo>
                    <a:pt x="39860" y="147146"/>
                  </a:lnTo>
                  <a:lnTo>
                    <a:pt x="36366" y="144946"/>
                  </a:lnTo>
                  <a:lnTo>
                    <a:pt x="33001" y="142487"/>
                  </a:lnTo>
                  <a:lnTo>
                    <a:pt x="29637" y="140028"/>
                  </a:lnTo>
                  <a:lnTo>
                    <a:pt x="26531" y="137311"/>
                  </a:lnTo>
                  <a:lnTo>
                    <a:pt x="23554" y="134464"/>
                  </a:lnTo>
                  <a:lnTo>
                    <a:pt x="20707" y="131616"/>
                  </a:lnTo>
                  <a:lnTo>
                    <a:pt x="17989" y="128510"/>
                  </a:lnTo>
                  <a:lnTo>
                    <a:pt x="15530" y="125404"/>
                  </a:lnTo>
                  <a:lnTo>
                    <a:pt x="13071" y="122169"/>
                  </a:lnTo>
                  <a:lnTo>
                    <a:pt x="11001" y="118804"/>
                  </a:lnTo>
                  <a:lnTo>
                    <a:pt x="8930" y="115310"/>
                  </a:lnTo>
                  <a:lnTo>
                    <a:pt x="7118" y="111686"/>
                  </a:lnTo>
                  <a:lnTo>
                    <a:pt x="5565" y="108063"/>
                  </a:lnTo>
                  <a:lnTo>
                    <a:pt x="4142" y="104310"/>
                  </a:lnTo>
                  <a:lnTo>
                    <a:pt x="2848" y="100557"/>
                  </a:lnTo>
                  <a:lnTo>
                    <a:pt x="1812" y="96674"/>
                  </a:lnTo>
                  <a:lnTo>
                    <a:pt x="1036" y="92662"/>
                  </a:lnTo>
                  <a:lnTo>
                    <a:pt x="518" y="88650"/>
                  </a:lnTo>
                  <a:lnTo>
                    <a:pt x="13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130" y="76356"/>
                  </a:lnTo>
                  <a:lnTo>
                    <a:pt x="518" y="72215"/>
                  </a:lnTo>
                  <a:lnTo>
                    <a:pt x="1036" y="68203"/>
                  </a:lnTo>
                  <a:lnTo>
                    <a:pt x="1812" y="64191"/>
                  </a:lnTo>
                  <a:lnTo>
                    <a:pt x="2848" y="60308"/>
                  </a:lnTo>
                  <a:lnTo>
                    <a:pt x="4142" y="56555"/>
                  </a:lnTo>
                  <a:lnTo>
                    <a:pt x="5565" y="52802"/>
                  </a:lnTo>
                  <a:lnTo>
                    <a:pt x="7118" y="49179"/>
                  </a:lnTo>
                  <a:lnTo>
                    <a:pt x="8930" y="45555"/>
                  </a:lnTo>
                  <a:lnTo>
                    <a:pt x="11001" y="42061"/>
                  </a:lnTo>
                  <a:lnTo>
                    <a:pt x="13071" y="38696"/>
                  </a:lnTo>
                  <a:lnTo>
                    <a:pt x="15530" y="35461"/>
                  </a:lnTo>
                  <a:lnTo>
                    <a:pt x="17989" y="32355"/>
                  </a:lnTo>
                  <a:lnTo>
                    <a:pt x="20707" y="29249"/>
                  </a:lnTo>
                  <a:lnTo>
                    <a:pt x="23554" y="26401"/>
                  </a:lnTo>
                  <a:lnTo>
                    <a:pt x="26531" y="23554"/>
                  </a:lnTo>
                  <a:lnTo>
                    <a:pt x="29637" y="20966"/>
                  </a:lnTo>
                  <a:lnTo>
                    <a:pt x="33001" y="18378"/>
                  </a:lnTo>
                  <a:lnTo>
                    <a:pt x="36366" y="16048"/>
                  </a:lnTo>
                  <a:lnTo>
                    <a:pt x="39860" y="13719"/>
                  </a:lnTo>
                  <a:lnTo>
                    <a:pt x="43613" y="11648"/>
                  </a:lnTo>
                  <a:lnTo>
                    <a:pt x="47367" y="9707"/>
                  </a:lnTo>
                  <a:lnTo>
                    <a:pt x="51249" y="7895"/>
                  </a:lnTo>
                  <a:lnTo>
                    <a:pt x="55261" y="6342"/>
                  </a:lnTo>
                  <a:lnTo>
                    <a:pt x="59402" y="4918"/>
                  </a:lnTo>
                  <a:lnTo>
                    <a:pt x="63544" y="3624"/>
                  </a:lnTo>
                  <a:lnTo>
                    <a:pt x="67944" y="2589"/>
                  </a:lnTo>
                  <a:lnTo>
                    <a:pt x="72214" y="1683"/>
                  </a:lnTo>
                  <a:lnTo>
                    <a:pt x="76744" y="907"/>
                  </a:lnTo>
                  <a:lnTo>
                    <a:pt x="81273" y="389"/>
                  </a:lnTo>
                  <a:lnTo>
                    <a:pt x="85803" y="130"/>
                  </a:lnTo>
                  <a:lnTo>
                    <a:pt x="90462" y="1"/>
                  </a:lnTo>
                  <a:lnTo>
                    <a:pt x="90462" y="1"/>
                  </a:lnTo>
                  <a:lnTo>
                    <a:pt x="95121" y="130"/>
                  </a:lnTo>
                  <a:lnTo>
                    <a:pt x="99780" y="389"/>
                  </a:lnTo>
                  <a:lnTo>
                    <a:pt x="104309" y="907"/>
                  </a:lnTo>
                  <a:lnTo>
                    <a:pt x="108710" y="1683"/>
                  </a:lnTo>
                  <a:lnTo>
                    <a:pt x="113110" y="2589"/>
                  </a:lnTo>
                  <a:lnTo>
                    <a:pt x="117380" y="3624"/>
                  </a:lnTo>
                  <a:lnTo>
                    <a:pt x="121651" y="4918"/>
                  </a:lnTo>
                  <a:lnTo>
                    <a:pt x="125793" y="6342"/>
                  </a:lnTo>
                  <a:lnTo>
                    <a:pt x="129804" y="7895"/>
                  </a:lnTo>
                  <a:lnTo>
                    <a:pt x="133687" y="9707"/>
                  </a:lnTo>
                  <a:lnTo>
                    <a:pt x="137440" y="11648"/>
                  </a:lnTo>
                  <a:lnTo>
                    <a:pt x="141064" y="13719"/>
                  </a:lnTo>
                  <a:lnTo>
                    <a:pt x="144687" y="16048"/>
                  </a:lnTo>
                  <a:lnTo>
                    <a:pt x="148052" y="18378"/>
                  </a:lnTo>
                  <a:lnTo>
                    <a:pt x="151417" y="20966"/>
                  </a:lnTo>
                  <a:lnTo>
                    <a:pt x="154523" y="23554"/>
                  </a:lnTo>
                  <a:lnTo>
                    <a:pt x="157499" y="26401"/>
                  </a:lnTo>
                  <a:lnTo>
                    <a:pt x="160347" y="29249"/>
                  </a:lnTo>
                  <a:lnTo>
                    <a:pt x="163064" y="32355"/>
                  </a:lnTo>
                  <a:lnTo>
                    <a:pt x="165523" y="35461"/>
                  </a:lnTo>
                  <a:lnTo>
                    <a:pt x="167853" y="38696"/>
                  </a:lnTo>
                  <a:lnTo>
                    <a:pt x="170053" y="42061"/>
                  </a:lnTo>
                  <a:lnTo>
                    <a:pt x="172123" y="45555"/>
                  </a:lnTo>
                  <a:lnTo>
                    <a:pt x="173935" y="49179"/>
                  </a:lnTo>
                  <a:lnTo>
                    <a:pt x="175488" y="52802"/>
                  </a:lnTo>
                  <a:lnTo>
                    <a:pt x="176912" y="56555"/>
                  </a:lnTo>
                  <a:lnTo>
                    <a:pt x="178206" y="60308"/>
                  </a:lnTo>
                  <a:lnTo>
                    <a:pt x="179112" y="64191"/>
                  </a:lnTo>
                  <a:lnTo>
                    <a:pt x="180018" y="68203"/>
                  </a:lnTo>
                  <a:lnTo>
                    <a:pt x="180535" y="72215"/>
                  </a:lnTo>
                  <a:lnTo>
                    <a:pt x="180924" y="76356"/>
                  </a:lnTo>
                  <a:lnTo>
                    <a:pt x="181053" y="80497"/>
                  </a:lnTo>
                  <a:lnTo>
                    <a:pt x="181053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807025" y="846675"/>
              <a:ext cx="2009200" cy="4021625"/>
            </a:xfrm>
            <a:custGeom>
              <a:rect b="b" l="l" r="r" t="t"/>
              <a:pathLst>
                <a:path extrusionOk="0" fill="none" h="160865" w="80368">
                  <a:moveTo>
                    <a:pt x="80367" y="80497"/>
                  </a:moveTo>
                  <a:lnTo>
                    <a:pt x="80367" y="80497"/>
                  </a:lnTo>
                  <a:lnTo>
                    <a:pt x="80367" y="84639"/>
                  </a:lnTo>
                  <a:lnTo>
                    <a:pt x="80238" y="88650"/>
                  </a:lnTo>
                  <a:lnTo>
                    <a:pt x="79979" y="92662"/>
                  </a:lnTo>
                  <a:lnTo>
                    <a:pt x="79591" y="96674"/>
                  </a:lnTo>
                  <a:lnTo>
                    <a:pt x="79073" y="100557"/>
                  </a:lnTo>
                  <a:lnTo>
                    <a:pt x="78555" y="104310"/>
                  </a:lnTo>
                  <a:lnTo>
                    <a:pt x="77908" y="108063"/>
                  </a:lnTo>
                  <a:lnTo>
                    <a:pt x="77261" y="111686"/>
                  </a:lnTo>
                  <a:lnTo>
                    <a:pt x="76485" y="115310"/>
                  </a:lnTo>
                  <a:lnTo>
                    <a:pt x="75579" y="118804"/>
                  </a:lnTo>
                  <a:lnTo>
                    <a:pt x="74544" y="122169"/>
                  </a:lnTo>
                  <a:lnTo>
                    <a:pt x="73508" y="125404"/>
                  </a:lnTo>
                  <a:lnTo>
                    <a:pt x="72344" y="128510"/>
                  </a:lnTo>
                  <a:lnTo>
                    <a:pt x="71179" y="131616"/>
                  </a:lnTo>
                  <a:lnTo>
                    <a:pt x="69885" y="134464"/>
                  </a:lnTo>
                  <a:lnTo>
                    <a:pt x="68590" y="137311"/>
                  </a:lnTo>
                  <a:lnTo>
                    <a:pt x="67167" y="140028"/>
                  </a:lnTo>
                  <a:lnTo>
                    <a:pt x="65743" y="142487"/>
                  </a:lnTo>
                  <a:lnTo>
                    <a:pt x="64190" y="144946"/>
                  </a:lnTo>
                  <a:lnTo>
                    <a:pt x="62637" y="147146"/>
                  </a:lnTo>
                  <a:lnTo>
                    <a:pt x="61084" y="149217"/>
                  </a:lnTo>
                  <a:lnTo>
                    <a:pt x="59402" y="151158"/>
                  </a:lnTo>
                  <a:lnTo>
                    <a:pt x="57590" y="152970"/>
                  </a:lnTo>
                  <a:lnTo>
                    <a:pt x="55778" y="154523"/>
                  </a:lnTo>
                  <a:lnTo>
                    <a:pt x="53966" y="155947"/>
                  </a:lnTo>
                  <a:lnTo>
                    <a:pt x="52155" y="157241"/>
                  </a:lnTo>
                  <a:lnTo>
                    <a:pt x="50213" y="158276"/>
                  </a:lnTo>
                  <a:lnTo>
                    <a:pt x="48272" y="159182"/>
                  </a:lnTo>
                  <a:lnTo>
                    <a:pt x="46331" y="159958"/>
                  </a:lnTo>
                  <a:lnTo>
                    <a:pt x="44260" y="160476"/>
                  </a:lnTo>
                  <a:lnTo>
                    <a:pt x="42190" y="160735"/>
                  </a:lnTo>
                  <a:lnTo>
                    <a:pt x="40119" y="160864"/>
                  </a:lnTo>
                  <a:lnTo>
                    <a:pt x="40119" y="160864"/>
                  </a:lnTo>
                  <a:lnTo>
                    <a:pt x="38048" y="160735"/>
                  </a:lnTo>
                  <a:lnTo>
                    <a:pt x="36107" y="160476"/>
                  </a:lnTo>
                  <a:lnTo>
                    <a:pt x="34036" y="159958"/>
                  </a:lnTo>
                  <a:lnTo>
                    <a:pt x="32095" y="159182"/>
                  </a:lnTo>
                  <a:lnTo>
                    <a:pt x="30154" y="158276"/>
                  </a:lnTo>
                  <a:lnTo>
                    <a:pt x="28213" y="157241"/>
                  </a:lnTo>
                  <a:lnTo>
                    <a:pt x="26401" y="155947"/>
                  </a:lnTo>
                  <a:lnTo>
                    <a:pt x="24460" y="154523"/>
                  </a:lnTo>
                  <a:lnTo>
                    <a:pt x="22777" y="152970"/>
                  </a:lnTo>
                  <a:lnTo>
                    <a:pt x="20965" y="151158"/>
                  </a:lnTo>
                  <a:lnTo>
                    <a:pt x="19283" y="149217"/>
                  </a:lnTo>
                  <a:lnTo>
                    <a:pt x="17730" y="147146"/>
                  </a:lnTo>
                  <a:lnTo>
                    <a:pt x="16048" y="144946"/>
                  </a:lnTo>
                  <a:lnTo>
                    <a:pt x="14624" y="142487"/>
                  </a:lnTo>
                  <a:lnTo>
                    <a:pt x="13071" y="140028"/>
                  </a:lnTo>
                  <a:lnTo>
                    <a:pt x="11777" y="137311"/>
                  </a:lnTo>
                  <a:lnTo>
                    <a:pt x="10353" y="134464"/>
                  </a:lnTo>
                  <a:lnTo>
                    <a:pt x="9189" y="131616"/>
                  </a:lnTo>
                  <a:lnTo>
                    <a:pt x="7894" y="128510"/>
                  </a:lnTo>
                  <a:lnTo>
                    <a:pt x="6859" y="125404"/>
                  </a:lnTo>
                  <a:lnTo>
                    <a:pt x="5824" y="122169"/>
                  </a:lnTo>
                  <a:lnTo>
                    <a:pt x="4789" y="118804"/>
                  </a:lnTo>
                  <a:lnTo>
                    <a:pt x="3883" y="115310"/>
                  </a:lnTo>
                  <a:lnTo>
                    <a:pt x="3106" y="111686"/>
                  </a:lnTo>
                  <a:lnTo>
                    <a:pt x="2330" y="108063"/>
                  </a:lnTo>
                  <a:lnTo>
                    <a:pt x="1812" y="104310"/>
                  </a:lnTo>
                  <a:lnTo>
                    <a:pt x="1165" y="100557"/>
                  </a:lnTo>
                  <a:lnTo>
                    <a:pt x="777" y="96674"/>
                  </a:lnTo>
                  <a:lnTo>
                    <a:pt x="388" y="92662"/>
                  </a:lnTo>
                  <a:lnTo>
                    <a:pt x="130" y="88650"/>
                  </a:lnTo>
                  <a:lnTo>
                    <a:pt x="0" y="84639"/>
                  </a:lnTo>
                  <a:lnTo>
                    <a:pt x="0" y="80497"/>
                  </a:lnTo>
                  <a:lnTo>
                    <a:pt x="0" y="80497"/>
                  </a:lnTo>
                  <a:lnTo>
                    <a:pt x="0" y="76356"/>
                  </a:lnTo>
                  <a:lnTo>
                    <a:pt x="130" y="72215"/>
                  </a:lnTo>
                  <a:lnTo>
                    <a:pt x="388" y="68203"/>
                  </a:lnTo>
                  <a:lnTo>
                    <a:pt x="777" y="64191"/>
                  </a:lnTo>
                  <a:lnTo>
                    <a:pt x="1165" y="60308"/>
                  </a:lnTo>
                  <a:lnTo>
                    <a:pt x="1812" y="56555"/>
                  </a:lnTo>
                  <a:lnTo>
                    <a:pt x="2330" y="52802"/>
                  </a:lnTo>
                  <a:lnTo>
                    <a:pt x="3106" y="49179"/>
                  </a:lnTo>
                  <a:lnTo>
                    <a:pt x="3883" y="45555"/>
                  </a:lnTo>
                  <a:lnTo>
                    <a:pt x="4789" y="42061"/>
                  </a:lnTo>
                  <a:lnTo>
                    <a:pt x="5824" y="38696"/>
                  </a:lnTo>
                  <a:lnTo>
                    <a:pt x="6859" y="35461"/>
                  </a:lnTo>
                  <a:lnTo>
                    <a:pt x="7894" y="32355"/>
                  </a:lnTo>
                  <a:lnTo>
                    <a:pt x="9189" y="29249"/>
                  </a:lnTo>
                  <a:lnTo>
                    <a:pt x="10353" y="26401"/>
                  </a:lnTo>
                  <a:lnTo>
                    <a:pt x="11777" y="23554"/>
                  </a:lnTo>
                  <a:lnTo>
                    <a:pt x="13071" y="20966"/>
                  </a:lnTo>
                  <a:lnTo>
                    <a:pt x="14624" y="18378"/>
                  </a:lnTo>
                  <a:lnTo>
                    <a:pt x="16048" y="16048"/>
                  </a:lnTo>
                  <a:lnTo>
                    <a:pt x="17730" y="13719"/>
                  </a:lnTo>
                  <a:lnTo>
                    <a:pt x="19283" y="11648"/>
                  </a:lnTo>
                  <a:lnTo>
                    <a:pt x="20965" y="9707"/>
                  </a:lnTo>
                  <a:lnTo>
                    <a:pt x="22777" y="7895"/>
                  </a:lnTo>
                  <a:lnTo>
                    <a:pt x="24460" y="6342"/>
                  </a:lnTo>
                  <a:lnTo>
                    <a:pt x="26401" y="4918"/>
                  </a:lnTo>
                  <a:lnTo>
                    <a:pt x="28213" y="3624"/>
                  </a:lnTo>
                  <a:lnTo>
                    <a:pt x="30154" y="2589"/>
                  </a:lnTo>
                  <a:lnTo>
                    <a:pt x="32095" y="1683"/>
                  </a:lnTo>
                  <a:lnTo>
                    <a:pt x="34036" y="907"/>
                  </a:lnTo>
                  <a:lnTo>
                    <a:pt x="36107" y="389"/>
                  </a:lnTo>
                  <a:lnTo>
                    <a:pt x="38048" y="130"/>
                  </a:lnTo>
                  <a:lnTo>
                    <a:pt x="40119" y="1"/>
                  </a:lnTo>
                  <a:lnTo>
                    <a:pt x="40119" y="1"/>
                  </a:lnTo>
                  <a:lnTo>
                    <a:pt x="42190" y="130"/>
                  </a:lnTo>
                  <a:lnTo>
                    <a:pt x="44260" y="389"/>
                  </a:lnTo>
                  <a:lnTo>
                    <a:pt x="46331" y="907"/>
                  </a:lnTo>
                  <a:lnTo>
                    <a:pt x="48272" y="1683"/>
                  </a:lnTo>
                  <a:lnTo>
                    <a:pt x="50213" y="2589"/>
                  </a:lnTo>
                  <a:lnTo>
                    <a:pt x="52155" y="3624"/>
                  </a:lnTo>
                  <a:lnTo>
                    <a:pt x="53966" y="4918"/>
                  </a:lnTo>
                  <a:lnTo>
                    <a:pt x="55778" y="6342"/>
                  </a:lnTo>
                  <a:lnTo>
                    <a:pt x="57590" y="7895"/>
                  </a:lnTo>
                  <a:lnTo>
                    <a:pt x="59402" y="9707"/>
                  </a:lnTo>
                  <a:lnTo>
                    <a:pt x="61084" y="11648"/>
                  </a:lnTo>
                  <a:lnTo>
                    <a:pt x="62637" y="13719"/>
                  </a:lnTo>
                  <a:lnTo>
                    <a:pt x="64190" y="16048"/>
                  </a:lnTo>
                  <a:lnTo>
                    <a:pt x="65743" y="18378"/>
                  </a:lnTo>
                  <a:lnTo>
                    <a:pt x="67167" y="20966"/>
                  </a:lnTo>
                  <a:lnTo>
                    <a:pt x="68590" y="23554"/>
                  </a:lnTo>
                  <a:lnTo>
                    <a:pt x="69885" y="26401"/>
                  </a:lnTo>
                  <a:lnTo>
                    <a:pt x="71179" y="29249"/>
                  </a:lnTo>
                  <a:lnTo>
                    <a:pt x="72344" y="32355"/>
                  </a:lnTo>
                  <a:lnTo>
                    <a:pt x="73508" y="35461"/>
                  </a:lnTo>
                  <a:lnTo>
                    <a:pt x="74544" y="38696"/>
                  </a:lnTo>
                  <a:lnTo>
                    <a:pt x="75579" y="42061"/>
                  </a:lnTo>
                  <a:lnTo>
                    <a:pt x="76485" y="45555"/>
                  </a:lnTo>
                  <a:lnTo>
                    <a:pt x="77261" y="49179"/>
                  </a:lnTo>
                  <a:lnTo>
                    <a:pt x="77908" y="52802"/>
                  </a:lnTo>
                  <a:lnTo>
                    <a:pt x="78555" y="56555"/>
                  </a:lnTo>
                  <a:lnTo>
                    <a:pt x="79073" y="60308"/>
                  </a:lnTo>
                  <a:lnTo>
                    <a:pt x="79591" y="64191"/>
                  </a:lnTo>
                  <a:lnTo>
                    <a:pt x="79979" y="68203"/>
                  </a:lnTo>
                  <a:lnTo>
                    <a:pt x="80238" y="72215"/>
                  </a:lnTo>
                  <a:lnTo>
                    <a:pt x="80367" y="76356"/>
                  </a:lnTo>
                  <a:lnTo>
                    <a:pt x="80367" y="80497"/>
                  </a:lnTo>
                  <a:lnTo>
                    <a:pt x="80367" y="80497"/>
                  </a:lnTo>
                  <a:close/>
                </a:path>
              </a:pathLst>
            </a:custGeom>
            <a:noFill/>
            <a:ln cap="rnd" cmpd="sng" w="28575">
              <a:solidFill>
                <a:srgbClr val="F9B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Rectangle 126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50"/>
                </a:solidFill>
                <a:latin typeface="DM Sans"/>
              </a:defRPr>
            </a:pPr>
            <a:r>
              <a:t>Demo Context: CSI Incident Management</a:t>
            </a:r>
          </a:p>
        </p:txBody>
      </p:sp>
      <p:sp>
        <p:nvSpPr>
          <p:cNvPr id="1265" name="Rounded Rectangle 1264"/>
          <p:cNvSpPr/>
          <p:nvPr/>
        </p:nvSpPr>
        <p:spPr>
          <a:xfrm>
            <a:off x="228600" y="493776"/>
            <a:ext cx="2743200" cy="155448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Rectangle 1265"/>
          <p:cNvSpPr/>
          <p:nvPr/>
        </p:nvSpPr>
        <p:spPr>
          <a:xfrm>
            <a:off x="228600" y="493776"/>
            <a:ext cx="27432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TextBox 1266"/>
          <p:cNvSpPr txBox="1"/>
          <p:nvPr/>
        </p:nvSpPr>
        <p:spPr>
          <a:xfrm>
            <a:off x="365760" y="585216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ourier New"/>
              </a:defRPr>
            </a:pPr>
            <a:r>
              <a:t>infomedia-nexus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365760" y="859536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Source of truth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365760" y="1078992"/>
            <a:ext cx="25603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All docs, requirements,</a:t>
            </a:r>
            <a:br/>
            <a:r>
              <a:t>alignment artefacts,</a:t>
            </a:r>
            <a:br/>
            <a:r>
              <a:t>decisions.md</a:t>
            </a:r>
          </a:p>
        </p:txBody>
      </p:sp>
      <p:sp>
        <p:nvSpPr>
          <p:cNvPr id="1270" name="Rounded Rectangle 1269"/>
          <p:cNvSpPr/>
          <p:nvPr/>
        </p:nvSpPr>
        <p:spPr>
          <a:xfrm>
            <a:off x="3108960" y="493776"/>
            <a:ext cx="2743200" cy="155448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Rectangle 1270"/>
          <p:cNvSpPr/>
          <p:nvPr/>
        </p:nvSpPr>
        <p:spPr>
          <a:xfrm>
            <a:off x="3108960" y="493776"/>
            <a:ext cx="2743200" cy="381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3246120" y="585216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ourier New"/>
              </a:defRPr>
            </a:pPr>
            <a:r>
              <a:t>infodrive-cx-api</a:t>
            </a:r>
          </a:p>
        </p:txBody>
      </p:sp>
      <p:sp>
        <p:nvSpPr>
          <p:cNvPr id="1273" name="TextBox 1272"/>
          <p:cNvSpPr txBox="1"/>
          <p:nvPr/>
        </p:nvSpPr>
        <p:spPr>
          <a:xfrm>
            <a:off x="3246120" y="859536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Backend</a:t>
            </a:r>
          </a:p>
        </p:txBody>
      </p:sp>
      <p:sp>
        <p:nvSpPr>
          <p:cNvPr id="1274" name="TextBox 1273"/>
          <p:cNvSpPr txBox="1"/>
          <p:nvPr/>
        </p:nvSpPr>
        <p:spPr>
          <a:xfrm>
            <a:off x="3246120" y="1078992"/>
            <a:ext cx="25603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Python Lambdas</a:t>
            </a:r>
            <a:br/>
            <a:r>
              <a:t>15 REST endpoints</a:t>
            </a:r>
            <a:br/>
            <a:r>
              <a:t>Full database schema</a:t>
            </a:r>
          </a:p>
        </p:txBody>
      </p:sp>
      <p:sp>
        <p:nvSpPr>
          <p:cNvPr id="1275" name="Rounded Rectangle 1274"/>
          <p:cNvSpPr/>
          <p:nvPr/>
        </p:nvSpPr>
        <p:spPr>
          <a:xfrm>
            <a:off x="5989320" y="493776"/>
            <a:ext cx="2743200" cy="1554480"/>
          </a:xfrm>
          <a:prstGeom prst="roundRect">
            <a:avLst/>
          </a:prstGeom>
          <a:solidFill>
            <a:srgbClr val="FA5A50"/>
          </a:solidFill>
          <a:ln w="9525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Rectangle 1275"/>
          <p:cNvSpPr/>
          <p:nvPr/>
        </p:nvSpPr>
        <p:spPr>
          <a:xfrm>
            <a:off x="5989320" y="493776"/>
            <a:ext cx="27432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TextBox 1276"/>
          <p:cNvSpPr txBox="1"/>
          <p:nvPr/>
        </p:nvSpPr>
        <p:spPr>
          <a:xfrm>
            <a:off x="6126480" y="585216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ourier New"/>
              </a:defRPr>
            </a:pPr>
            <a:r>
              <a:t>infodrive-cx-ui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6126480" y="859536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M Sans"/>
              </a:defRPr>
            </a:pPr>
            <a:r>
              <a:t>Frontend</a:t>
            </a:r>
          </a:p>
        </p:txBody>
      </p:sp>
      <p:sp>
        <p:nvSpPr>
          <p:cNvPr id="1279" name="TextBox 1278"/>
          <p:cNvSpPr txBox="1"/>
          <p:nvPr/>
        </p:nvSpPr>
        <p:spPr>
          <a:xfrm>
            <a:off x="6126480" y="1078992"/>
            <a:ext cx="25603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M Sans"/>
              </a:defRPr>
            </a:pPr>
            <a:r>
              <a:t>Next.js 15</a:t>
            </a:r>
            <a:br/>
            <a:r>
              <a:t>Admin + Dealer portals</a:t>
            </a:r>
            <a:br/>
            <a:r>
              <a:t>Design system + legacy ref</a:t>
            </a:r>
          </a:p>
        </p:txBody>
      </p:sp>
      <p:sp>
        <p:nvSpPr>
          <p:cNvPr id="1280" name="TextBox 1279"/>
          <p:cNvSpPr txBox="1"/>
          <p:nvPr/>
        </p:nvSpPr>
        <p:spPr>
          <a:xfrm>
            <a:off x="228600" y="217627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50"/>
                </a:solidFill>
                <a:latin typeface="DM Sans"/>
              </a:defRPr>
            </a:pPr>
            <a:r>
              <a:t>What you’ll see in the demo:</a:t>
            </a:r>
          </a:p>
        </p:txBody>
      </p:sp>
      <p:sp>
        <p:nvSpPr>
          <p:cNvPr id="1281" name="Oval 1280"/>
          <p:cNvSpPr/>
          <p:nvPr/>
        </p:nvSpPr>
        <p:spPr>
          <a:xfrm>
            <a:off x="274320" y="2560320"/>
            <a:ext cx="88900" cy="889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TextBox 1281"/>
          <p:cNvSpPr txBox="1"/>
          <p:nvPr/>
        </p:nvSpPr>
        <p:spPr>
          <a:xfrm>
            <a:off x="457200" y="2505456"/>
            <a:ext cx="1737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Courier New"/>
              </a:defRPr>
            </a:pPr>
            <a:r>
              <a:t>spec-requirements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2286000" y="2505456"/>
            <a:ext cx="6583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Generating EARS requirements from steering files</a:t>
            </a:r>
          </a:p>
        </p:txBody>
      </p:sp>
      <p:sp>
        <p:nvSpPr>
          <p:cNvPr id="1284" name="Oval 1283"/>
          <p:cNvSpPr/>
          <p:nvPr/>
        </p:nvSpPr>
        <p:spPr>
          <a:xfrm>
            <a:off x="274320" y="3127248"/>
            <a:ext cx="88900" cy="889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TextBox 1284"/>
          <p:cNvSpPr txBox="1"/>
          <p:nvPr/>
        </p:nvSpPr>
        <p:spPr>
          <a:xfrm>
            <a:off x="457200" y="3072384"/>
            <a:ext cx="1737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Courier New"/>
              </a:defRPr>
            </a:pPr>
            <a:r>
              <a:t>spec-design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2286000" y="3072384"/>
            <a:ext cx="6583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Producing design.md with architecture decisions</a:t>
            </a:r>
          </a:p>
        </p:txBody>
      </p:sp>
      <p:sp>
        <p:nvSpPr>
          <p:cNvPr id="1287" name="Oval 1286"/>
          <p:cNvSpPr/>
          <p:nvPr/>
        </p:nvSpPr>
        <p:spPr>
          <a:xfrm>
            <a:off x="274320" y="3694176"/>
            <a:ext cx="88900" cy="889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TextBox 1287"/>
          <p:cNvSpPr txBox="1"/>
          <p:nvPr/>
        </p:nvSpPr>
        <p:spPr>
          <a:xfrm>
            <a:off x="457200" y="3639312"/>
            <a:ext cx="1737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Courier New"/>
              </a:defRPr>
            </a:pPr>
            <a:r>
              <a:t>spec-tasks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2286000" y="3639312"/>
            <a:ext cx="6583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Breaking design into atomic, FR/BR-linked tasks</a:t>
            </a:r>
          </a:p>
        </p:txBody>
      </p:sp>
      <p:sp>
        <p:nvSpPr>
          <p:cNvPr id="1290" name="Oval 1289"/>
          <p:cNvSpPr/>
          <p:nvPr/>
        </p:nvSpPr>
        <p:spPr>
          <a:xfrm>
            <a:off x="274320" y="4261104"/>
            <a:ext cx="88900" cy="88900"/>
          </a:xfrm>
          <a:prstGeom prst="ellipse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TextBox 1290"/>
          <p:cNvSpPr txBox="1"/>
          <p:nvPr/>
        </p:nvSpPr>
        <p:spPr>
          <a:xfrm>
            <a:off x="457200" y="4206240"/>
            <a:ext cx="1737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Courier New"/>
              </a:defRPr>
            </a:pPr>
            <a:r>
              <a:t>spec-impl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2286000" y="4206240"/>
            <a:ext cx="6583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50"/>
                </a:solidFill>
                <a:latin typeface="DM Sans"/>
              </a:defRPr>
            </a:pPr>
            <a:r>
              <a:t>TDD implementation task-by-task + gap validation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5A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0050"/>
                </a:solidFill>
                <a:latin typeface="DM Sans"/>
              </a:defRPr>
            </a:pPr>
            <a:r>
              <a:t>Recorded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50"/>
                </a:solidFill>
                <a:latin typeface="DM Sans"/>
              </a:defRPr>
            </a:pPr>
            <a:r>
              <a:t>SDD in action — CSI Incident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50"/>
                </a:solidFill>
                <a:latin typeface="Courier New"/>
              </a:defRPr>
            </a:pPr>
            <a:r>
              <a:t>3 repos · spec-requirements → spec-design → spec-tasks → spec-impl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731520"/>
            <a:ext cx="8686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81838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DM Sans"/>
              </a:defRPr>
            </a:pPr>
            <a:r>
              <a:t>The bottleneck is the environment, not the agent — invest in the harness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34440"/>
            <a:ext cx="8686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81838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DM Sans"/>
              </a:defRPr>
            </a:pPr>
            <a:r>
              <a:t>Agents can’t evaluate their own work — deterministic tools + human 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737360"/>
            <a:ext cx="8686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81838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DM Sans"/>
              </a:defRPr>
            </a:pPr>
            <a:r>
              <a:t>Your output is the agent’s input — decision quality = product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240280"/>
            <a:ext cx="8686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3172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31720"/>
            <a:ext cx="81838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DM Sans"/>
              </a:defRPr>
            </a:pPr>
            <a:r>
              <a:t>If it’s not in the repo, it doesn’t exist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743200"/>
            <a:ext cx="8686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83464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4640"/>
            <a:ext cx="81838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DM Sans"/>
              </a:defRPr>
            </a:pPr>
            <a:r>
              <a:t>AI-SDLC: 4 phases with human gates — agent drafts, human decides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3246120"/>
            <a:ext cx="8686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33756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37560"/>
            <a:ext cx="81838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DM Sans"/>
              </a:defRPr>
            </a:pPr>
            <a:r>
              <a:t>SDD: requirements → design → tasks → implement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3749040"/>
            <a:ext cx="8686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84048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40480"/>
            <a:ext cx="81838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DM Sans"/>
              </a:defRPr>
            </a:pPr>
            <a:r>
              <a:t>Mechanical enforcement — if it matters enough to document, enforce it with tooling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4251960"/>
            <a:ext cx="8686800" cy="45720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34340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DM Sans"/>
              </a:defRPr>
            </a:pPr>
            <a:r>
              <a:t>8.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43400"/>
            <a:ext cx="81838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DM Sans"/>
              </a:defRPr>
            </a:pPr>
            <a:r>
              <a:t>Every harness component is an assumption — stress-test as models improve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50"/>
                </a:solidFill>
                <a:latin typeface="DM Sans"/>
              </a:defRPr>
            </a:pPr>
            <a:r>
              <a:t>Adoption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731520"/>
            <a:ext cx="2057400" cy="347472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731520"/>
            <a:ext cx="2057400" cy="508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841248"/>
            <a:ext cx="183794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M Sans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143000"/>
            <a:ext cx="183794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M Sans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508760"/>
            <a:ext cx="1837944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CSI Incident Management as proof of concept. Validate the full AI-SDLC pipeline end-to-end. Refine steering files, SDD commands, and review checklists based on real usage.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" y="3703320"/>
            <a:ext cx="191109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3776472"/>
            <a:ext cx="191109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1 feature, 1 team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95144" y="2427732"/>
            <a:ext cx="73152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731520"/>
            <a:ext cx="2057400" cy="347472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731520"/>
            <a:ext cx="2057400" cy="508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841248"/>
            <a:ext cx="183794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B9FF"/>
                </a:solidFill>
                <a:latin typeface="DM Sans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143000"/>
            <a:ext cx="183794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M Sans"/>
              </a:defRPr>
            </a:pPr>
            <a:r>
              <a:t>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1508760"/>
            <a:ext cx="1837944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Apply to 2–3 more feature sets. Onboard more devs and QAs to SDD. Agent-assisted QA: generate initial AC from BRs, auto-map BDD coverage. Shared steering templates and review standards.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2" y="3703320"/>
            <a:ext cx="191109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3776472"/>
            <a:ext cx="191109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2–3 features, team-wide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43984" y="2427732"/>
            <a:ext cx="73152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731520"/>
            <a:ext cx="2057400" cy="347472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731520"/>
            <a:ext cx="2057400" cy="508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841248"/>
            <a:ext cx="183794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M Sans"/>
              </a:defRPr>
            </a:pPr>
            <a:r>
              <a:t>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1143000"/>
            <a:ext cx="183794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M Sans"/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1508760"/>
            <a:ext cx="1837944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Standardise across projects. Add entropy management: background agents scanning for drift and staleness. Browser automation (Playwright MCP) for UI validation. Runtime observability so agents see the running app.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9432" y="3703320"/>
            <a:ext cx="191109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776472"/>
            <a:ext cx="191109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Organisation-wide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592824" y="2427732"/>
            <a:ext cx="73152" cy="82296"/>
          </a:xfrm>
          <a:prstGeom prst="rightArrow">
            <a:avLst/>
          </a:prstGeom>
          <a:solidFill>
            <a:srgbClr val="FA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75120" y="731520"/>
            <a:ext cx="2057400" cy="3474720"/>
          </a:xfrm>
          <a:prstGeom prst="roundRect">
            <a:avLst/>
          </a:prstGeom>
          <a:solidFill>
            <a:srgbClr val="FA5A50"/>
          </a:solidFill>
          <a:ln w="6350"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731520"/>
            <a:ext cx="2057400" cy="50800"/>
          </a:xfrm>
          <a:prstGeom prst="rect">
            <a:avLst/>
          </a:prstGeom>
          <a:solidFill>
            <a:srgbClr val="69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841248"/>
            <a:ext cx="183794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50"/>
                </a:solidFill>
                <a:latin typeface="DM Sans"/>
              </a:defRPr>
            </a:pPr>
            <a:r>
              <a:t>Long-term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1143000"/>
            <a:ext cx="183794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M Sans"/>
              </a:defRPr>
            </a:pPr>
            <a:r>
              <a:t>Mature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1508760"/>
            <a:ext cx="1837944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DM Sans"/>
              </a:defRPr>
            </a:pPr>
            <a:r>
              <a:t>Full autonomous loop for routine features. Agent security hardened. Harness versioning and A/B testing. Periodically stress-test harness assumptions — every component is a bet on what the model can’t do; remove what better models make unnecessary.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48272" y="3703320"/>
            <a:ext cx="191109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A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3776472"/>
            <a:ext cx="191109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0050"/>
                </a:solidFill>
                <a:latin typeface="DM Sans"/>
              </a:defRPr>
            </a:pPr>
            <a:r>
              <a:t>Continuous improvement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5A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000050"/>
                </a:solidFill>
                <a:latin typeface="DM Sans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0050"/>
                </a:solidFill>
                <a:latin typeface="DM Sans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